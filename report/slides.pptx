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8" r:id="rId19"/>
    <p:sldId id="269" r:id="rId20"/>
    <p:sldId id="257" r:id="rId8"/>
    <p:sldId id="258" r:id="rId9"/>
    <p:sldId id="259" r:id="rId10"/>
    <p:sldId id="260" r:id="rId11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81160" y="1234440"/>
            <a:ext cx="2286000" cy="182880"/>
          </a:xfrm>
          <a:prstGeom prst="rect">
            <a:avLst/>
          </a:prstGeom>
          <a:solidFill>
            <a:srgbClr val="0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81160" y="1545336"/>
            <a:ext cx="2286000" cy="182880"/>
          </a:xfrm>
          <a:prstGeom prst="rect">
            <a:avLst/>
          </a:prstGeom>
          <a:solidFill>
            <a:srgbClr val="0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81160" y="1856232"/>
            <a:ext cx="2286000" cy="182880"/>
          </a:xfrm>
          <a:prstGeom prst="rect">
            <a:avLst/>
          </a:prstGeom>
          <a:solidFill>
            <a:srgbClr val="0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1160" y="2167128"/>
            <a:ext cx="2286000" cy="182880"/>
          </a:xfrm>
          <a:prstGeom prst="rect">
            <a:avLst/>
          </a:prstGeom>
          <a:solidFill>
            <a:srgbClr val="0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81160" y="2478024"/>
            <a:ext cx="2286000" cy="182880"/>
          </a:xfrm>
          <a:prstGeom prst="rect">
            <a:avLst/>
          </a:prstGeom>
          <a:solidFill>
            <a:srgbClr val="0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81160" y="2926080"/>
            <a:ext cx="2286000" cy="182880"/>
          </a:xfrm>
          <a:prstGeom prst="rect">
            <a:avLst/>
          </a:prstGeom>
          <a:solidFill>
            <a:srgbClr val="1F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1160" y="3236976"/>
            <a:ext cx="2286000" cy="182880"/>
          </a:xfrm>
          <a:prstGeom prst="rect">
            <a:avLst/>
          </a:prstGeom>
          <a:solidFill>
            <a:srgbClr val="1F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3547872"/>
            <a:ext cx="2286000" cy="182880"/>
          </a:xfrm>
          <a:prstGeom prst="rect">
            <a:avLst/>
          </a:prstGeom>
          <a:solidFill>
            <a:srgbClr val="1F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371600"/>
            <a:ext cx="548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1">
                <a:solidFill>
                  <a:srgbClr val="0E6E8E"/>
                </a:solidFill>
                <a:latin typeface="Calibri"/>
              </a:rP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971800"/>
            <a:ext cx="548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1">
                <a:solidFill>
                  <a:srgbClr val="8FB0C4"/>
                </a:solidFill>
                <a:latin typeface="Calibri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The Space Cost of Shor's Algorithm</a:t>
            </a:r>
          </a:p>
          <a:p>
            <a:pPr algn="l"/>
            <a:r>
              <a:rPr sz="2300" b="0" i="0">
                <a:solidFill>
                  <a:srgbClr val="E0A63C"/>
                </a:solidFill>
                <a:latin typeface="Cambria"/>
              </a:rPr>
              <a:t>How much does the Quantum Phase Estimation register weigh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9AAFBA"/>
                </a:solidFill>
                <a:latin typeface="Calibri"/>
              </a:rPr>
              <a:t>Lorenzo Luchesini  ·  881345  ·  AI4ST a.a. 2025-6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6311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mbria"/>
              </a:rPr>
              <a:t>Order finding uses two registers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Aft>
                <a:spcPts val="800"/>
              </a:spcAft>
              <a:buFont typeface="Arial"/>
              <a:buChar char="•"/>
            </a:pPr>
            <a:r>
              <a:rPr sz="1600" b="1" i="0">
                <a:solidFill>
                  <a:srgbClr val="13293D"/>
                </a:solidFill>
                <a:latin typeface="Calibri"/>
              </a:rPr>
              <a:t>Target register  </a:t>
            </a:r>
            <a:r>
              <a:rPr sz="1600" b="1" i="1">
                <a:solidFill>
                  <a:srgbClr val="13293D"/>
                </a:solidFill>
                <a:latin typeface="Calibri"/>
              </a:rPr>
              <a:t>T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 —  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= ⌈log</a:t>
            </a:r>
            <a:r>
              <a:rPr sz="1280" b="0" i="0" baseline="-25000">
                <a:solidFill>
                  <a:srgbClr val="13293D"/>
                </a:solidFill>
                <a:latin typeface="Calibri"/>
              </a:rPr>
              <a:t>2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⌉ qubits, holds the state</a:t>
            </a:r>
            <a:br>
              <a:rPr sz="1600" b="0" i="0">
                <a:solidFill>
                  <a:srgbClr val="13293D"/>
                </a:solidFill>
                <a:latin typeface="Calibri"/>
              </a:rPr>
            </a:br>
            <a:r>
              <a:rPr sz="1600" b="0" i="0">
                <a:solidFill>
                  <a:srgbClr val="13293D"/>
                </a:solidFill>
                <a:latin typeface="Calibri"/>
              </a:rPr>
              <a:t>|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a</a:t>
            </a:r>
            <a:r>
              <a:rPr sz="1280" b="0" i="1" baseline="30000">
                <a:solidFill>
                  <a:srgbClr val="13293D"/>
                </a:solidFill>
                <a:latin typeface="Calibri"/>
              </a:rPr>
              <a:t>k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mod 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⟩</a:t>
            </a:r>
          </a:p>
          <a:p>
            <a:pPr algn="l" indent="-228600" marL="228600">
              <a:spcAft>
                <a:spcPts val="1400"/>
              </a:spcAft>
              <a:buFont typeface="Arial"/>
              <a:buChar char="•"/>
            </a:pPr>
            <a:r>
              <a:rPr sz="1600" b="1" i="0">
                <a:solidFill>
                  <a:srgbClr val="13293D"/>
                </a:solidFill>
                <a:latin typeface="Calibri"/>
              </a:rPr>
              <a:t>Counting register  </a:t>
            </a:r>
            <a:r>
              <a:rPr sz="1600" b="1" i="1">
                <a:solidFill>
                  <a:srgbClr val="13293D"/>
                </a:solidFill>
                <a:latin typeface="Calibri"/>
              </a:rPr>
              <a:t>C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 —  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t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qubits, reads the phase  θ = 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k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⁄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 and nothing 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212080" cy="173736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9050">
            <a:solidFill>
              <a:srgbClr val="0E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E6E8E"/>
                </a:solidFill>
                <a:latin typeface="Calibri"/>
              </a:rPr>
              <a:t>  Register </a:t>
            </a:r>
            <a:r>
              <a:rPr sz="1250" b="1" i="1">
                <a:solidFill>
                  <a:srgbClr val="0E6E8E"/>
                </a:solidFill>
                <a:latin typeface="Calibri"/>
              </a:rPr>
              <a:t>C</a:t>
            </a:r>
            <a:r>
              <a:rPr sz="1250" b="1" i="0">
                <a:solidFill>
                  <a:srgbClr val="0E6E8E"/>
                </a:solidFill>
                <a:latin typeface="Calibri"/>
              </a:rPr>
              <a:t>  ·  </a:t>
            </a:r>
            <a:r>
              <a:rPr sz="1250" b="1" i="1">
                <a:solidFill>
                  <a:srgbClr val="0E6E8E"/>
                </a:solidFill>
                <a:latin typeface="Calibri"/>
              </a:rPr>
              <a:t>t</a:t>
            </a:r>
            <a:r>
              <a:rPr sz="1250" b="1" i="0">
                <a:solidFill>
                  <a:srgbClr val="0E6E8E"/>
                </a:solidFill>
                <a:latin typeface="Calibri"/>
              </a:rPr>
              <a:t> qubits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2121408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1214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3293D"/>
                </a:solidFill>
                <a:latin typeface="Calibri"/>
              </a:rPr>
              <a:t>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87768" y="2121408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7768" y="21214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3293D"/>
                </a:solidFill>
                <a:latin typeface="Calibri"/>
              </a:rPr>
              <a:t>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54696" y="2121408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54696" y="21214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3293D"/>
                </a:solidFill>
                <a:latin typeface="Calibri"/>
              </a:rPr>
              <a:t>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21624" y="2121408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21214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3293D"/>
                </a:solidFill>
                <a:latin typeface="Calibri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2011680"/>
            <a:ext cx="1645920" cy="685800"/>
          </a:xfrm>
          <a:prstGeom prst="rect">
            <a:avLst/>
          </a:prstGeom>
          <a:solidFill>
            <a:srgbClr val="0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2011680"/>
            <a:ext cx="1645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QFT†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52044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9050">
            <a:solidFill>
              <a:srgbClr val="1F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59359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4E6B"/>
                </a:solidFill>
                <a:latin typeface="Calibri"/>
              </a:rPr>
              <a:t>  Register </a:t>
            </a:r>
            <a:r>
              <a:rPr sz="1250" b="1" i="1">
                <a:solidFill>
                  <a:srgbClr val="1F4E6B"/>
                </a:solidFill>
                <a:latin typeface="Calibri"/>
              </a:rPr>
              <a:t>T</a:t>
            </a:r>
            <a:r>
              <a:rPr sz="1250" b="1" i="0">
                <a:solidFill>
                  <a:srgbClr val="1F4E6B"/>
                </a:solidFill>
                <a:latin typeface="Calibri"/>
              </a:rPr>
              <a:t>  ·  </a:t>
            </a:r>
            <a:r>
              <a:rPr sz="1250" b="1" i="1">
                <a:solidFill>
                  <a:srgbClr val="1F4E6B"/>
                </a:solidFill>
                <a:latin typeface="Calibri"/>
              </a:rPr>
              <a:t>n</a:t>
            </a:r>
            <a:r>
              <a:rPr sz="1250" b="1" i="0">
                <a:solidFill>
                  <a:srgbClr val="1F4E6B"/>
                </a:solidFill>
                <a:latin typeface="Calibri"/>
              </a:rPr>
              <a:t> qubits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4023360"/>
            <a:ext cx="685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023360"/>
            <a:ext cx="685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3293D"/>
                </a:solidFill>
                <a:latin typeface="Calibri"/>
              </a:rPr>
              <a:t>|1⟩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4023360"/>
            <a:ext cx="822960" cy="548640"/>
          </a:xfrm>
          <a:prstGeom prst="rect">
            <a:avLst/>
          </a:prstGeom>
          <a:solidFill>
            <a:srgbClr val="1F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02336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M</a:t>
            </a:r>
            <a:r>
              <a:rPr sz="1050" b="1" i="1" baseline="-2500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4023360"/>
            <a:ext cx="822960" cy="548640"/>
          </a:xfrm>
          <a:prstGeom prst="rect">
            <a:avLst/>
          </a:prstGeom>
          <a:solidFill>
            <a:srgbClr val="1F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402336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M</a:t>
            </a:r>
            <a:r>
              <a:rPr sz="1050" b="1" i="1" baseline="-2500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4023360"/>
            <a:ext cx="822960" cy="548640"/>
          </a:xfrm>
          <a:prstGeom prst="rect">
            <a:avLst/>
          </a:prstGeom>
          <a:solidFill>
            <a:srgbClr val="1F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402336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M</a:t>
            </a:r>
            <a:r>
              <a:rPr sz="1050" b="1" i="1" baseline="-2500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2920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3293D"/>
                </a:solidFill>
                <a:latin typeface="Calibri"/>
              </a:rPr>
              <a:t>total width  =  </a:t>
            </a:r>
            <a:r>
              <a:rPr sz="1400" b="1" i="1">
                <a:solidFill>
                  <a:srgbClr val="13293D"/>
                </a:solidFill>
                <a:latin typeface="Calibri"/>
              </a:rPr>
              <a:t>t</a:t>
            </a:r>
            <a:r>
              <a:rPr sz="1400" b="1" i="0">
                <a:solidFill>
                  <a:srgbClr val="13293D"/>
                </a:solidFill>
                <a:latin typeface="Calibri"/>
              </a:rPr>
              <a:t> + </a:t>
            </a:r>
            <a:r>
              <a:rPr sz="1400" b="1" i="1">
                <a:solidFill>
                  <a:srgbClr val="13293D"/>
                </a:solidFill>
                <a:latin typeface="Calibri"/>
              </a:rPr>
              <a:t>n</a:t>
            </a:r>
          </a:p>
        </p:txBody>
      </p:sp>
      <p:sp>
        <p:nvSpPr>
          <p:cNvPr id="90" name="Highlight Box"/>
          <p:cNvSpPr/>
          <p:nvPr/>
        </p:nvSpPr>
        <p:spPr>
          <a:xfrm>
            <a:off x="548640" y="304038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Highlight Text"/>
          <p:cNvSpPr txBox="1"/>
          <p:nvPr/>
        </p:nvSpPr>
        <p:spPr>
          <a:xfrm>
            <a:off x="548640" y="3040380"/>
            <a:ext cx="5486400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How large must </a:t>
            </a:r>
            <a:r>
              <a:rPr sz="2200" b="1" i="1">
                <a:solidFill>
                  <a:srgbClr val="FFFFFF"/>
                </a:solidFill>
                <a:latin typeface="Calibri"/>
              </a:rPr>
              <a:t>C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 be?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6311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mbria"/>
              </a:rPr>
              <a:t>From phase to order: continued fractions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3293D"/>
                </a:solidFill>
                <a:latin typeface="Calibri"/>
              </a:rPr>
              <a:t>Measuring  </a:t>
            </a:r>
            <a:r>
              <a:rPr sz="1700" b="0" i="1">
                <a:solidFill>
                  <a:srgbClr val="13293D"/>
                </a:solidFill>
                <a:latin typeface="Calibri"/>
              </a:rPr>
              <a:t>C</a:t>
            </a:r>
            <a:r>
              <a:rPr sz="1700" b="0" i="0">
                <a:solidFill>
                  <a:srgbClr val="13293D"/>
                </a:solidFill>
                <a:latin typeface="Calibri"/>
              </a:rPr>
              <a:t>  returns  </a:t>
            </a:r>
            <a:r>
              <a:rPr sz="1700" b="1" i="1">
                <a:solidFill>
                  <a:srgbClr val="0E6E8E"/>
                </a:solidFill>
                <a:latin typeface="Calibri"/>
              </a:rPr>
              <a:t>y</a:t>
            </a:r>
            <a:r>
              <a:rPr sz="1700" b="1" i="0">
                <a:solidFill>
                  <a:srgbClr val="0E6E8E"/>
                </a:solidFill>
                <a:latin typeface="Calibri"/>
              </a:rPr>
              <a:t>⁄2</a:t>
            </a:r>
            <a:r>
              <a:rPr sz="1530" b="1" i="1" baseline="30000">
                <a:solidFill>
                  <a:srgbClr val="0E6E8E"/>
                </a:solidFill>
                <a:latin typeface="Calibri"/>
              </a:rPr>
              <a:t>t</a:t>
            </a:r>
            <a:r>
              <a:rPr sz="1700" b="1" i="0">
                <a:solidFill>
                  <a:srgbClr val="0E6E8E"/>
                </a:solidFill>
                <a:latin typeface="Calibri"/>
              </a:rPr>
              <a:t>  ≈  </a:t>
            </a:r>
            <a:r>
              <a:rPr sz="1700" b="1" i="1">
                <a:solidFill>
                  <a:srgbClr val="0E6E8E"/>
                </a:solidFill>
                <a:latin typeface="Calibri"/>
              </a:rPr>
              <a:t>k</a:t>
            </a:r>
            <a:r>
              <a:rPr sz="1700" b="1" i="0">
                <a:solidFill>
                  <a:srgbClr val="0E6E8E"/>
                </a:solidFill>
                <a:latin typeface="Calibri"/>
              </a:rPr>
              <a:t>⁄</a:t>
            </a:r>
            <a:r>
              <a:rPr sz="1700" b="1" i="1">
                <a:solidFill>
                  <a:srgbClr val="0E6E8E"/>
                </a:solidFill>
                <a:latin typeface="Calibri"/>
              </a:rPr>
              <a:t>r</a:t>
            </a:r>
            <a:r>
              <a:rPr sz="1700" b="0" i="0">
                <a:solidFill>
                  <a:srgbClr val="13293D"/>
                </a:solidFill>
                <a:latin typeface="Calibri"/>
              </a:rPr>
              <a:t>  with  </a:t>
            </a:r>
            <a:r>
              <a:rPr sz="1700" b="0" i="1">
                <a:solidFill>
                  <a:srgbClr val="13293D"/>
                </a:solidFill>
                <a:latin typeface="Calibri"/>
              </a:rPr>
              <a:t>k</a:t>
            </a:r>
            <a:r>
              <a:rPr sz="1700" b="0" i="0">
                <a:solidFill>
                  <a:srgbClr val="13293D"/>
                </a:solidFill>
                <a:latin typeface="Calibri"/>
              </a:rPr>
              <a:t>  uniform in  {0, ..., </a:t>
            </a:r>
            <a:r>
              <a:rPr sz="170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700" b="0" i="0">
                <a:solidFill>
                  <a:srgbClr val="13293D"/>
                </a:solidFill>
                <a:latin typeface="Calibri"/>
              </a:rPr>
              <a:t>−1}.</a:t>
            </a:r>
          </a:p>
          <a:p>
            <a:pPr algn="l"/>
            <a:r>
              <a:rPr sz="1700" b="0" i="0">
                <a:solidFill>
                  <a:srgbClr val="13293D"/>
                </a:solidFill>
                <a:latin typeface="Calibri"/>
              </a:rPr>
              <a:t>Continued fractions reconstruct  </a:t>
            </a:r>
            <a:r>
              <a:rPr sz="1700" b="0" i="1">
                <a:solidFill>
                  <a:srgbClr val="13293D"/>
                </a:solidFill>
                <a:latin typeface="Calibri"/>
              </a:rPr>
              <a:t>k</a:t>
            </a:r>
            <a:r>
              <a:rPr sz="1700" b="0" i="0">
                <a:solidFill>
                  <a:srgbClr val="13293D"/>
                </a:solidFill>
                <a:latin typeface="Calibri"/>
              </a:rPr>
              <a:t>⁄</a:t>
            </a:r>
            <a:r>
              <a:rPr sz="170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700" b="0" i="0">
                <a:solidFill>
                  <a:srgbClr val="13293D"/>
                </a:solidFill>
                <a:latin typeface="Calibri"/>
              </a:rPr>
              <a:t>  exactly  —  but only if the estimate is precise enough: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606040"/>
            <a:ext cx="7223760" cy="105156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9050">
            <a:solidFill>
              <a:srgbClr val="0E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0" name="Eq Boxed Inequality" descr="phase_resolution_ine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841" y="2881970"/>
            <a:ext cx="1855838" cy="4997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977639"/>
            <a:ext cx="6583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13293D"/>
                </a:solidFill>
                <a:latin typeface="Calibri"/>
              </a:rPr>
              <a:t>The phase must be resolved with error  &lt;  1⁄(2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²).</a:t>
            </a:r>
          </a:p>
          <a:p>
            <a:pPr algn="l" indent="-228600" marL="228600"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13293D"/>
                </a:solidFill>
                <a:latin typeface="Calibri"/>
              </a:rPr>
              <a:t>Register  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C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 sets the resolution: grid spacing  </a:t>
            </a:r>
            <a:r>
              <a:rPr sz="1600" b="1" i="0">
                <a:solidFill>
                  <a:srgbClr val="0E6E8E"/>
                </a:solidFill>
                <a:latin typeface="Calibri"/>
              </a:rPr>
              <a:t>2⁻ᵗ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.</a:t>
            </a:r>
          </a:p>
          <a:p>
            <a:pPr algn="l" indent="-228600" marL="228600">
              <a:buFont typeface="Arial"/>
              <a:buChar char="•"/>
            </a:pPr>
            <a:r>
              <a:rPr sz="1600" b="0" i="0">
                <a:solidFill>
                  <a:srgbClr val="13293D"/>
                </a:solidFill>
                <a:latin typeface="Calibri"/>
              </a:rPr>
              <a:t>With too few bits, multiple phases  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k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⁄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 land on the same measured value and continued fractions get it wrong.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977639"/>
            <a:ext cx="4251960" cy="233172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2700">
            <a:solidFill>
              <a:srgbClr val="5C6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4160520"/>
            <a:ext cx="3840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 i="0">
                <a:solidFill>
                  <a:srgbClr val="5C6B78"/>
                </a:solidFill>
                <a:latin typeface="Calibri"/>
              </a:rPr>
              <a:t>Example  (</a:t>
            </a:r>
            <a:r>
              <a:rPr sz="1650" b="1" i="1">
                <a:solidFill>
                  <a:srgbClr val="5C6B78"/>
                </a:solidFill>
                <a:latin typeface="Calibri"/>
              </a:rPr>
              <a:t>N</a:t>
            </a:r>
            <a:r>
              <a:rPr sz="1650" b="1" i="0">
                <a:solidFill>
                  <a:srgbClr val="5C6B78"/>
                </a:solidFill>
                <a:latin typeface="Calibri"/>
              </a:rPr>
              <a:t> = 21,  </a:t>
            </a:r>
            <a:r>
              <a:rPr sz="1650" b="1" i="1">
                <a:solidFill>
                  <a:srgbClr val="5C6B78"/>
                </a:solidFill>
                <a:latin typeface="Calibri"/>
              </a:rPr>
              <a:t>t</a:t>
            </a:r>
            <a:r>
              <a:rPr sz="1650" b="1" i="0">
                <a:solidFill>
                  <a:srgbClr val="5C6B78"/>
                </a:solidFill>
                <a:latin typeface="Calibri"/>
              </a:rPr>
              <a:t> = 6)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3293D"/>
                </a:solidFill>
                <a:latin typeface="Consolas"/>
              </a:rPr>
              <a:t>measured  </a:t>
            </a:r>
            <a:r>
              <a:rPr sz="1600" b="0" i="1">
                <a:solidFill>
                  <a:srgbClr val="13293D"/>
                </a:solidFill>
                <a:latin typeface="Consolas"/>
              </a:rPr>
              <a:t>y</a:t>
            </a:r>
            <a:r>
              <a:rPr sz="1600" b="0" i="0">
                <a:solidFill>
                  <a:srgbClr val="13293D"/>
                </a:solidFill>
                <a:latin typeface="Consolas"/>
              </a:rPr>
              <a:t>/2ᵗ = 11/64 ≈ 0.172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3293D"/>
                </a:solidFill>
                <a:latin typeface="Calibri"/>
              </a:rPr>
              <a:t>convergents:  0,  1/5,  </a:t>
            </a:r>
            <a:r>
              <a:rPr sz="1700" b="1" i="0">
                <a:solidFill>
                  <a:srgbClr val="0E6E8E"/>
                </a:solidFill>
                <a:latin typeface="Consolas"/>
              </a:rPr>
              <a:t>1/6</a:t>
            </a:r>
            <a:r>
              <a:rPr sz="1700" b="1" i="0">
                <a:solidFill>
                  <a:srgbClr val="13293D"/>
                </a:solidFill>
                <a:latin typeface="Calibri"/>
              </a:rPr>
              <a:t>  →  </a:t>
            </a:r>
            <a:r>
              <a:rPr sz="1700" b="1" i="1">
                <a:solidFill>
                  <a:srgbClr val="13293D"/>
                </a:solidFill>
                <a:latin typeface="Calibri"/>
              </a:rPr>
              <a:t>r</a:t>
            </a:r>
            <a:r>
              <a:rPr sz="1700" b="1" i="0">
                <a:solidFill>
                  <a:srgbClr val="13293D"/>
                </a:solidFill>
                <a:latin typeface="Calibri"/>
              </a:rPr>
              <a:t> = 6</a:t>
            </a:r>
          </a:p>
          <a:p>
            <a:pPr algn="l"/>
            <a:r>
              <a:rPr sz="1600" b="0" i="0">
                <a:solidFill>
                  <a:srgbClr val="13293D"/>
                </a:solidFill>
                <a:latin typeface="Calibri"/>
              </a:rPr>
              <a:t>the first denominator  &lt; 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 is chosen.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6311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mbria"/>
              </a:rPr>
              <a:t>The space cost:  </a:t>
            </a:r>
            <a:r>
              <a:rPr sz="3000" b="1" i="1">
                <a:solidFill>
                  <a:srgbClr val="13293D"/>
                </a:solidFill>
                <a:latin typeface="Cambria"/>
              </a:rPr>
              <a:t>t</a:t>
            </a:r>
            <a:r>
              <a:rPr sz="3000" b="1" i="0">
                <a:solidFill>
                  <a:srgbClr val="13293D"/>
                </a:solidFill>
                <a:latin typeface="Cambria"/>
              </a:rPr>
              <a:t>  ≈  2</a:t>
            </a:r>
            <a:r>
              <a:rPr sz="3000" b="1" i="1">
                <a:solidFill>
                  <a:srgbClr val="13293D"/>
                </a:solidFill>
                <a:latin typeface="Cambria"/>
              </a:rPr>
              <a:t>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852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3293D"/>
                </a:solidFill>
                <a:latin typeface="Calibri"/>
              </a:rPr>
              <a:t>Since  </a:t>
            </a:r>
            <a:r>
              <a:rPr sz="1600" b="1" i="1">
                <a:solidFill>
                  <a:srgbClr val="13293D"/>
                </a:solidFill>
                <a:latin typeface="Calibri"/>
              </a:rPr>
              <a:t>r</a:t>
            </a:r>
            <a:r>
              <a:rPr sz="1600" b="1" i="0">
                <a:solidFill>
                  <a:srgbClr val="13293D"/>
                </a:solidFill>
                <a:latin typeface="Calibri"/>
              </a:rPr>
              <a:t> &lt; </a:t>
            </a:r>
            <a:r>
              <a:rPr sz="1600" b="1" i="1">
                <a:solidFill>
                  <a:srgbClr val="13293D"/>
                </a:solidFill>
                <a:latin typeface="Calibri"/>
              </a:rPr>
              <a:t>N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,  it suffices to require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0E6E8E"/>
                </a:solidFill>
                <a:latin typeface="Consolas"/>
              </a:rPr>
              <a:t>| </a:t>
            </a:r>
            <a:r>
              <a:rPr sz="1500" b="0" i="1">
                <a:solidFill>
                  <a:srgbClr val="0E6E8E"/>
                </a:solidFill>
                <a:latin typeface="Consolas"/>
              </a:rPr>
              <a:t>y</a:t>
            </a:r>
            <a:r>
              <a:rPr sz="1500" b="0" i="0">
                <a:solidFill>
                  <a:srgbClr val="0E6E8E"/>
                </a:solidFill>
                <a:latin typeface="Consolas"/>
              </a:rPr>
              <a:t>⁄2</a:t>
            </a:r>
            <a:r>
              <a:rPr sz="1350" b="0" i="1" baseline="30000">
                <a:solidFill>
                  <a:srgbClr val="0E6E8E"/>
                </a:solidFill>
                <a:latin typeface="Consolas"/>
              </a:rPr>
              <a:t>t</a:t>
            </a:r>
            <a:r>
              <a:rPr sz="1500" b="0" i="0">
                <a:solidFill>
                  <a:srgbClr val="0E6E8E"/>
                </a:solidFill>
                <a:latin typeface="Consolas"/>
              </a:rPr>
              <a:t> − </a:t>
            </a:r>
            <a:r>
              <a:rPr sz="1500" b="0" i="1">
                <a:solidFill>
                  <a:srgbClr val="0E6E8E"/>
                </a:solidFill>
                <a:latin typeface="Consolas"/>
              </a:rPr>
              <a:t>k</a:t>
            </a:r>
            <a:r>
              <a:rPr sz="1500" b="0" i="0">
                <a:solidFill>
                  <a:srgbClr val="0E6E8E"/>
                </a:solidFill>
                <a:latin typeface="Consolas"/>
              </a:rPr>
              <a:t>⁄</a:t>
            </a:r>
            <a:r>
              <a:rPr sz="1500" b="0" i="1">
                <a:solidFill>
                  <a:srgbClr val="0E6E8E"/>
                </a:solidFill>
                <a:latin typeface="Consolas"/>
              </a:rPr>
              <a:t>r</a:t>
            </a:r>
            <a:r>
              <a:rPr sz="1500" b="0" i="0">
                <a:solidFill>
                  <a:srgbClr val="0E6E8E"/>
                </a:solidFill>
                <a:latin typeface="Consolas"/>
              </a:rPr>
              <a:t> | &lt; 1⁄(2</a:t>
            </a:r>
            <a:r>
              <a:rPr sz="1500" b="0" i="1">
                <a:solidFill>
                  <a:srgbClr val="0E6E8E"/>
                </a:solidFill>
                <a:latin typeface="Consolas"/>
              </a:rPr>
              <a:t>N</a:t>
            </a:r>
            <a:r>
              <a:rPr sz="1500" b="0" i="0">
                <a:solidFill>
                  <a:srgbClr val="0E6E8E"/>
                </a:solidFill>
                <a:latin typeface="Consolas"/>
              </a:rPr>
              <a:t>²)</a:t>
            </a:r>
          </a:p>
          <a:p>
            <a:pPr algn="l" indent="-228600" marL="228600">
              <a:spcAft>
                <a:spcPts val="2000"/>
              </a:spcAft>
              <a:buFont typeface="Arial"/>
              <a:buChar char="•"/>
            </a:pPr>
            <a:r>
              <a:rPr sz="1800" b="0" i="0">
                <a:solidFill>
                  <a:srgbClr val="13293D"/>
                </a:solidFill>
                <a:latin typeface="Calibri"/>
              </a:rPr>
              <a:t>which requires   </a:t>
            </a:r>
            <a:r>
              <a:rPr sz="1800" b="1" i="1">
                <a:solidFill>
                  <a:srgbClr val="0E6E8E"/>
                </a:solidFill>
                <a:latin typeface="Calibri"/>
              </a:rPr>
              <a:t>t</a:t>
            </a:r>
            <a:r>
              <a:rPr sz="1800" b="1" i="0">
                <a:solidFill>
                  <a:srgbClr val="0E6E8E"/>
                </a:solidFill>
                <a:latin typeface="Calibri"/>
              </a:rPr>
              <a:t>  ≳  2 log</a:t>
            </a:r>
            <a:r>
              <a:rPr sz="1440" b="1" i="0" baseline="-25000">
                <a:solidFill>
                  <a:srgbClr val="0E6E8E"/>
                </a:solidFill>
                <a:latin typeface="Calibri"/>
              </a:rPr>
              <a:t>2</a:t>
            </a:r>
            <a:r>
              <a:rPr sz="1800" b="1" i="0">
                <a:solidFill>
                  <a:srgbClr val="0E6E8E"/>
                </a:solidFill>
                <a:latin typeface="Calibri"/>
              </a:rPr>
              <a:t> </a:t>
            </a:r>
            <a:r>
              <a:rPr sz="1800" b="1" i="1">
                <a:solidFill>
                  <a:srgbClr val="0E6E8E"/>
                </a:solidFill>
                <a:latin typeface="Calibri"/>
              </a:rPr>
              <a:t>N</a:t>
            </a:r>
            <a:r>
              <a:rPr sz="1800" b="1" i="0">
                <a:solidFill>
                  <a:srgbClr val="0E6E8E"/>
                </a:solidFill>
                <a:latin typeface="Calibri"/>
              </a:rPr>
              <a:t> + 1  ≈  2</a:t>
            </a:r>
            <a:r>
              <a:rPr sz="1800" b="1" i="1">
                <a:solidFill>
                  <a:srgbClr val="0E6E8E"/>
                </a:solidFill>
                <a:latin typeface="Calibri"/>
              </a:rPr>
              <a:t>n</a:t>
            </a:r>
          </a:p>
          <a:p>
            <a:pPr algn="l">
              <a:spcAft>
                <a:spcPts val="2000"/>
              </a:spcAft>
            </a:pPr>
            <a:r>
              <a:rPr sz="1600" b="0" i="1">
                <a:solidFill>
                  <a:srgbClr val="13293D"/>
                </a:solidFill>
                <a:latin typeface="Calibri"/>
              </a:rPr>
              <a:t>The register that only reads the phase is twice as large as the one holding the number.</a:t>
            </a:r>
          </a:p>
          <a:p>
            <a:pPr algn="l" indent="-228600" marL="228600">
              <a:buFont typeface="Arial"/>
              <a:buChar char="•"/>
            </a:pPr>
            <a:r>
              <a:rPr sz="1600" b="0" i="0">
                <a:solidFill>
                  <a:srgbClr val="13293D"/>
                </a:solidFill>
                <a:latin typeface="Calibri"/>
              </a:rPr>
              <a:t>Total width   </a:t>
            </a:r>
            <a:r>
              <a:rPr sz="2200" b="1" i="0">
                <a:solidFill>
                  <a:srgbClr val="E0A63C"/>
                </a:solidFill>
                <a:latin typeface="Calibri"/>
              </a:rPr>
              <a:t>≈  3</a:t>
            </a:r>
            <a:r>
              <a:rPr sz="2200" b="1" i="1">
                <a:solidFill>
                  <a:srgbClr val="E0A63C"/>
                </a:solidFill>
                <a:latin typeface="Calibri"/>
              </a:rPr>
              <a:t>n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  versus  log</a:t>
            </a:r>
            <a:r>
              <a:rPr sz="1280" b="0" i="0" baseline="-25000">
                <a:solidFill>
                  <a:srgbClr val="13293D"/>
                </a:solidFill>
                <a:latin typeface="Calibri"/>
              </a:rPr>
              <a:t>2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 bits of useful information.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1600200"/>
          <a:ext cx="4937760" cy="1965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/>
                <a:gridCol w="1188720"/>
                <a:gridCol w="2194560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register</a:t>
                      </a:r>
                    </a:p>
                  </a:txBody>
                  <a:tcPr marL="82296" marR="82296" marT="36576" marB="36576" anchor="ctr">
                    <a:solidFill>
                      <a:srgbClr val="0E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82296" marR="82296" marT="36576" marB="36576" anchor="ctr">
                    <a:solidFill>
                      <a:srgbClr val="0E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82296" marR="82296" marT="36576" marB="36576" anchor="ctr">
                    <a:solidFill>
                      <a:srgbClr val="0E6E8E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3293D"/>
                          </a:solidFill>
                          <a:latin typeface="Calibri"/>
                        </a:rPr>
                        <a:t>target  </a:t>
                      </a:r>
                      <a:r>
                        <a:rPr sz="1300" b="0" i="1">
                          <a:solidFill>
                            <a:srgbClr val="13293D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93D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93D"/>
                          </a:solidFill>
                          <a:latin typeface="Calibri"/>
                        </a:rPr>
                        <a:t>holds the number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3293D"/>
                          </a:solidFill>
                          <a:latin typeface="Calibri"/>
                        </a:rPr>
                        <a:t>counting  </a:t>
                      </a:r>
                      <a:r>
                        <a:rPr sz="1300" b="0" i="1">
                          <a:solidFill>
                            <a:srgbClr val="13293D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93D"/>
                          </a:solidFill>
                          <a:latin typeface="Calibri"/>
                        </a:rPr>
                        <a:t>≈ 2</a:t>
                      </a:r>
                      <a:r>
                        <a:rPr sz="1300" b="0" i="1">
                          <a:solidFill>
                            <a:srgbClr val="13293D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93D"/>
                          </a:solidFill>
                          <a:latin typeface="Calibri"/>
                        </a:rPr>
                        <a:t>phase precision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329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93D"/>
                          </a:solidFill>
                          <a:latin typeface="Calibri"/>
                        </a:rPr>
                        <a:t>≈ 3</a:t>
                      </a:r>
                      <a:r>
                        <a:rPr sz="1300" b="0" i="1">
                          <a:solidFill>
                            <a:srgbClr val="13293D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9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675120" y="3977639"/>
            <a:ext cx="1645920" cy="548640"/>
          </a:xfrm>
          <a:prstGeom prst="rect">
            <a:avLst/>
          </a:prstGeom>
          <a:solidFill>
            <a:srgbClr val="1F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3977639"/>
            <a:ext cx="3291840" cy="548640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977639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  <a:latin typeface="Calibri"/>
              </a:rPr>
              <a:t>T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 : </a:t>
            </a:r>
            <a:r>
              <a:rPr sz="1200" b="1" i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977639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1">
                <a:solidFill>
                  <a:srgbClr val="13293D"/>
                </a:solidFill>
                <a:latin typeface="Calibri"/>
              </a:rPr>
              <a:t>C</a:t>
            </a:r>
            <a:r>
              <a:rPr sz="1200" b="1" i="0">
                <a:solidFill>
                  <a:srgbClr val="13293D"/>
                </a:solidFill>
                <a:latin typeface="Calibri"/>
              </a:rPr>
              <a:t> : ≈ 2</a:t>
            </a:r>
            <a:r>
              <a:rPr sz="1200" b="1" i="1">
                <a:solidFill>
                  <a:srgbClr val="13293D"/>
                </a:solidFill>
                <a:latin typeface="Calibri"/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66343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5C6B78"/>
                </a:solidFill>
                <a:latin typeface="Calibri"/>
              </a:rPr>
              <a:t>two-thirds of the width is just phase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212080"/>
            <a:ext cx="2286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0E6E8E"/>
                </a:solidFill>
                <a:latin typeface="Cambria"/>
              </a:rPr>
              <a:t>2×</a:t>
            </a:r>
          </a:p>
          <a:p>
            <a:pPr algn="ctr"/>
            <a:r>
              <a:rPr sz="1250" b="0" i="1">
                <a:solidFill>
                  <a:srgbClr val="5C6B78"/>
                </a:solidFill>
                <a:latin typeface="Calibri"/>
              </a:rPr>
              <a:t>C</a:t>
            </a:r>
            <a:r>
              <a:rPr sz="1250" b="0" i="0">
                <a:solidFill>
                  <a:srgbClr val="5C6B78"/>
                </a:solidFill>
                <a:latin typeface="Calibri"/>
              </a:rPr>
              <a:t>  versus  </a:t>
            </a:r>
            <a:r>
              <a:rPr sz="1250" b="0" i="1">
                <a:solidFill>
                  <a:srgbClr val="5C6B78"/>
                </a:solidFill>
                <a:latin typeface="Calibri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5212080"/>
            <a:ext cx="2286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E0A63C"/>
                </a:solidFill>
                <a:latin typeface="Cambria"/>
              </a:rPr>
              <a:t>3</a:t>
            </a:r>
            <a:r>
              <a:rPr sz="4000" b="1" i="1">
                <a:solidFill>
                  <a:srgbClr val="E0A63C"/>
                </a:solidFill>
                <a:latin typeface="Cambria"/>
              </a:rPr>
              <a:t>n</a:t>
            </a:r>
          </a:p>
          <a:p>
            <a:pPr algn="ctr"/>
            <a:r>
              <a:rPr sz="1250" b="0" i="0">
                <a:solidFill>
                  <a:srgbClr val="5C6B78"/>
                </a:solidFill>
                <a:latin typeface="Calibri"/>
              </a:rPr>
              <a:t>total width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6311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mbria"/>
              </a:rPr>
              <a:t>The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3293D"/>
                </a:solidFill>
                <a:latin typeface="Calibri"/>
              </a:rPr>
              <a:t>Only  </a:t>
            </a:r>
            <a:r>
              <a:rPr sz="1600" b="1" i="1">
                <a:solidFill>
                  <a:srgbClr val="0E6E8E"/>
                </a:solidFill>
                <a:latin typeface="Calibri"/>
              </a:rPr>
              <a:t>t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 is varied, and from the 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exact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distribution of register  </a:t>
            </a:r>
            <a:r>
              <a:rPr sz="1600" b="0" i="1">
                <a:solidFill>
                  <a:srgbClr val="13293D"/>
                </a:solidFill>
                <a:latin typeface="Calibri"/>
              </a:rPr>
              <a:t>C</a:t>
            </a:r>
            <a:r>
              <a:rPr sz="1600" b="0" i="0">
                <a:solidFill>
                  <a:srgbClr val="13293D"/>
                </a:solidFill>
                <a:latin typeface="Calibri"/>
              </a:rPr>
              <a:t>  two probabilities are measured: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5532120" cy="169164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9050">
            <a:solidFill>
              <a:srgbClr val="0E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395728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1">
                <a:solidFill>
                  <a:srgbClr val="0E6E8E"/>
                </a:solidFill>
                <a:latin typeface="Calibri"/>
              </a:rPr>
              <a:t>P</a:t>
            </a:r>
            <a:r>
              <a:rPr sz="1360" b="1" i="0" baseline="-25000">
                <a:solidFill>
                  <a:srgbClr val="0E6E8E"/>
                </a:solidFill>
                <a:latin typeface="Calibri"/>
              </a:rPr>
              <a:t>resolve</a:t>
            </a:r>
            <a:r>
              <a:rPr sz="1700" b="1" i="0">
                <a:solidFill>
                  <a:srgbClr val="0E6E8E"/>
                </a:solidFill>
                <a:latin typeface="Calibri"/>
              </a:rPr>
              <a:t> (</a:t>
            </a:r>
            <a:r>
              <a:rPr sz="1700" b="1" i="1">
                <a:solidFill>
                  <a:srgbClr val="0E6E8E"/>
                </a:solidFill>
                <a:latin typeface="Calibri"/>
              </a:rPr>
              <a:t>t</a:t>
            </a:r>
            <a:r>
              <a:rPr sz="1700" b="1" i="0">
                <a:solidFill>
                  <a:srgbClr val="0E6E8E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3293D"/>
                </a:solidFill>
                <a:latin typeface="Calibri"/>
              </a:rPr>
              <a:t>phase measured within  1⁄(2</a:t>
            </a:r>
            <a:r>
              <a:rPr sz="135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350" b="0" i="0">
                <a:solidFill>
                  <a:srgbClr val="13293D"/>
                </a:solidFill>
                <a:latin typeface="Calibri"/>
              </a:rPr>
              <a:t>²)  of a true  </a:t>
            </a:r>
            <a:r>
              <a:rPr sz="1350" b="0" i="1">
                <a:solidFill>
                  <a:srgbClr val="13293D"/>
                </a:solidFill>
                <a:latin typeface="Calibri"/>
              </a:rPr>
              <a:t>k</a:t>
            </a:r>
            <a:r>
              <a:rPr sz="1350" b="0" i="0">
                <a:solidFill>
                  <a:srgbClr val="13293D"/>
                </a:solidFill>
                <a:latin typeface="Calibri"/>
              </a:rPr>
              <a:t>⁄</a:t>
            </a:r>
            <a:r>
              <a:rPr sz="135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350" b="0" i="0">
                <a:solidFill>
                  <a:srgbClr val="13293D"/>
                </a:solidFill>
                <a:latin typeface="Calibri"/>
              </a:rPr>
              <a:t>.</a:t>
            </a:r>
          </a:p>
          <a:p>
            <a:pPr algn="l"/>
            <a:r>
              <a:rPr sz="1250" b="0" i="1">
                <a:solidFill>
                  <a:srgbClr val="5C6B78"/>
                </a:solidFill>
                <a:latin typeface="Calibri"/>
              </a:rPr>
              <a:t>purely spatial metric:  «did the register have enough bits?»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240280"/>
            <a:ext cx="5532120" cy="169164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9050">
            <a:solidFill>
              <a:srgbClr val="E0A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395728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1">
                <a:solidFill>
                  <a:srgbClr val="E0A63C"/>
                </a:solidFill>
                <a:latin typeface="Calibri"/>
              </a:rPr>
              <a:t>P</a:t>
            </a:r>
            <a:r>
              <a:rPr sz="1360" b="1" i="0" baseline="-25000">
                <a:solidFill>
                  <a:srgbClr val="E0A63C"/>
                </a:solidFill>
                <a:latin typeface="Calibri"/>
              </a:rPr>
              <a:t>factor</a:t>
            </a:r>
            <a:r>
              <a:rPr sz="1700" b="1" i="0">
                <a:solidFill>
                  <a:srgbClr val="E0A63C"/>
                </a:solidFill>
                <a:latin typeface="Calibri"/>
              </a:rPr>
              <a:t> (</a:t>
            </a:r>
            <a:r>
              <a:rPr sz="1700" b="1" i="1">
                <a:solidFill>
                  <a:srgbClr val="E0A63C"/>
                </a:solidFill>
                <a:latin typeface="Calibri"/>
              </a:rPr>
              <a:t>t</a:t>
            </a:r>
            <a:r>
              <a:rPr sz="1700" b="1" i="0">
                <a:solidFill>
                  <a:srgbClr val="E0A63C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3293D"/>
                </a:solidFill>
                <a:latin typeface="Calibri"/>
              </a:rPr>
              <a:t>a single shot yields a non-trivial factor of  </a:t>
            </a:r>
            <a:r>
              <a:rPr sz="135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350" b="0" i="0">
                <a:solidFill>
                  <a:srgbClr val="13293D"/>
                </a:solidFill>
                <a:latin typeface="Calibri"/>
              </a:rPr>
              <a:t>.</a:t>
            </a:r>
          </a:p>
          <a:p>
            <a:pPr algn="l"/>
            <a:r>
              <a:rPr sz="1250" b="0" i="0">
                <a:solidFill>
                  <a:srgbClr val="5C6B78"/>
                </a:solidFill>
                <a:latin typeface="Calibri"/>
              </a:rPr>
              <a:t>includes the numerical overhead:  </a:t>
            </a:r>
            <a:r>
              <a:rPr sz="1250" b="0" i="1">
                <a:solidFill>
                  <a:srgbClr val="5C6B78"/>
                </a:solidFill>
                <a:latin typeface="Calibri"/>
              </a:rPr>
              <a:t>k</a:t>
            </a:r>
            <a:r>
              <a:rPr sz="1250" b="0" i="0">
                <a:solidFill>
                  <a:srgbClr val="5C6B78"/>
                </a:solidFill>
                <a:latin typeface="Calibri"/>
              </a:rPr>
              <a:t> = 0,  </a:t>
            </a:r>
            <a:r>
              <a:rPr sz="1250" b="0" i="1">
                <a:solidFill>
                  <a:srgbClr val="5C6B78"/>
                </a:solidFill>
                <a:latin typeface="Calibri"/>
              </a:rPr>
              <a:t>r</a:t>
            </a:r>
            <a:r>
              <a:rPr sz="1250" b="0" i="0">
                <a:solidFill>
                  <a:srgbClr val="5C6B78"/>
                </a:solidFill>
                <a:latin typeface="Calibri"/>
              </a:rPr>
              <a:t> odd,  gcd(</a:t>
            </a:r>
            <a:r>
              <a:rPr sz="1250" b="0" i="1">
                <a:solidFill>
                  <a:srgbClr val="5C6B78"/>
                </a:solidFill>
                <a:latin typeface="Calibri"/>
              </a:rPr>
              <a:t>k</a:t>
            </a:r>
            <a:r>
              <a:rPr sz="1250" b="0" i="0">
                <a:solidFill>
                  <a:srgbClr val="5C6B78"/>
                </a:solidFill>
                <a:latin typeface="Calibri"/>
              </a:rPr>
              <a:t>, </a:t>
            </a:r>
            <a:r>
              <a:rPr sz="1250" b="0" i="1">
                <a:solidFill>
                  <a:srgbClr val="5C6B78"/>
                </a:solidFill>
                <a:latin typeface="Calibri"/>
              </a:rPr>
              <a:t>r</a:t>
            </a:r>
            <a:r>
              <a:rPr sz="1250" b="0" i="0">
                <a:solidFill>
                  <a:srgbClr val="5C6B78"/>
                </a:solidFill>
                <a:latin typeface="Calibri"/>
              </a:rPr>
              <a:t>) &gt;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12471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Aft>
                <a:spcPts val="400"/>
              </a:spcAft>
              <a:buFont typeface="Arial"/>
              <a:buChar char="•"/>
            </a:pPr>
            <a:r>
              <a:rPr sz="1450" b="0" i="0">
                <a:solidFill>
                  <a:srgbClr val="13293D"/>
                </a:solidFill>
                <a:latin typeface="Calibri"/>
              </a:rPr>
              <a:t>The gap 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P</a:t>
            </a:r>
            <a:r>
              <a:rPr sz="1160" b="0" i="0" baseline="-25000">
                <a:solidFill>
                  <a:srgbClr val="13293D"/>
                </a:solidFill>
                <a:latin typeface="Calibri"/>
              </a:rPr>
              <a:t>resolve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−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P</a:t>
            </a:r>
            <a:r>
              <a:rPr sz="1160" b="0" i="0" baseline="-25000">
                <a:solidFill>
                  <a:srgbClr val="13293D"/>
                </a:solidFill>
                <a:latin typeface="Calibri"/>
              </a:rPr>
              <a:t>factor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 is </a:t>
            </a:r>
            <a:r>
              <a:rPr sz="1450" b="1" i="0">
                <a:solidFill>
                  <a:srgbClr val="13293D"/>
                </a:solidFill>
                <a:latin typeface="Calibri"/>
              </a:rPr>
              <a:t>fixed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 (theorem:  success  ≥ 1 − 1⁄2ᵏ⁻¹, 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k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= number of distinct primes);</a:t>
            </a:r>
          </a:p>
          <a:p>
            <a:pPr algn="l" indent="-228600" marL="228600"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3293D"/>
                </a:solidFill>
                <a:latin typeface="Calibri"/>
              </a:rPr>
              <a:t>while the point where 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P</a:t>
            </a:r>
            <a:r>
              <a:rPr sz="1160" b="0" i="0" baseline="-25000">
                <a:solidFill>
                  <a:srgbClr val="13293D"/>
                </a:solidFill>
                <a:latin typeface="Calibri"/>
              </a:rPr>
              <a:t>resolve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 rises  is the  </a:t>
            </a:r>
            <a:r>
              <a:rPr sz="1450" b="1" i="0">
                <a:solidFill>
                  <a:srgbClr val="0E6E8E"/>
                </a:solidFill>
                <a:latin typeface="Calibri"/>
              </a:rPr>
              <a:t>space requirement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.</a:t>
            </a:r>
          </a:p>
          <a:p>
            <a:pPr algn="l" indent="-228600" marL="228600">
              <a:buFont typeface="Arial"/>
              <a:buChar char="•"/>
            </a:pPr>
            <a:r>
              <a:rPr sz="1400" b="0" i="0">
                <a:solidFill>
                  <a:srgbClr val="13293D"/>
                </a:solidFill>
                <a:latin typeface="Calibri"/>
              </a:rPr>
              <a:t>Target:  </a:t>
            </a:r>
            <a:r>
              <a:rPr sz="140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 = 15, 21, 35, 105  with base  </a:t>
            </a:r>
            <a:r>
              <a:rPr sz="1400" b="0" i="1">
                <a:solidFill>
                  <a:srgbClr val="13293D"/>
                </a:solidFill>
                <a:latin typeface="Calibri"/>
              </a:rPr>
              <a:t>a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 = 2.   Simulator: PennyLane default.qubit, analytic mode.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6311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mbria"/>
              </a:rPr>
              <a:t>Success vs. register size</a:t>
            </a:r>
          </a:p>
        </p:txBody>
      </p:sp>
      <p:pic>
        <p:nvPicPr>
          <p:cNvPr id="5" name="Picture 4" descr="s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680960" cy="48117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463040"/>
            <a:ext cx="33832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E6E8E"/>
                </a:solidFill>
                <a:latin typeface="Calibri"/>
              </a:rPr>
              <a:t>The «knee»</a:t>
            </a:r>
          </a:p>
          <a:p>
            <a:pPr algn="l">
              <a:spcAft>
                <a:spcPts val="1200"/>
              </a:spcAft>
            </a:pPr>
            <a:r>
              <a:rPr sz="1300" b="0" i="1">
                <a:solidFill>
                  <a:srgbClr val="13293D"/>
                </a:solidFill>
                <a:latin typeface="Calibri"/>
              </a:rPr>
              <a:t>P</a:t>
            </a:r>
            <a:r>
              <a:rPr sz="1050" b="0" i="0" baseline="-25000">
                <a:solidFill>
                  <a:srgbClr val="13293D"/>
                </a:solidFill>
                <a:latin typeface="Calibri"/>
              </a:rPr>
              <a:t>resolve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 rises around  </a:t>
            </a:r>
            <a:r>
              <a:rPr sz="1300" b="0" i="1">
                <a:solidFill>
                  <a:srgbClr val="13293D"/>
                </a:solidFill>
                <a:latin typeface="Calibri"/>
              </a:rPr>
              <a:t>t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 ≈ 2 log</a:t>
            </a:r>
            <a:r>
              <a:rPr sz="1050" b="0" i="0" baseline="-25000">
                <a:solidFill>
                  <a:srgbClr val="13293D"/>
                </a:solidFill>
                <a:latin typeface="Calibri"/>
              </a:rPr>
              <a:t>2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 </a:t>
            </a:r>
            <a:r>
              <a:rPr sz="130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,  well inside the worst-case bound  2</a:t>
            </a:r>
            <a:r>
              <a:rPr sz="130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+1.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0A63C"/>
                </a:solidFill>
                <a:latin typeface="Calibri"/>
              </a:rPr>
              <a:t>Plateau</a:t>
            </a:r>
          </a:p>
          <a:p>
            <a:pPr algn="l">
              <a:spcAft>
                <a:spcPts val="1200"/>
              </a:spcAft>
            </a:pPr>
            <a:r>
              <a:rPr sz="1300" b="0" i="1">
                <a:solidFill>
                  <a:srgbClr val="13293D"/>
                </a:solidFill>
                <a:latin typeface="Calibri"/>
              </a:rPr>
              <a:t>P</a:t>
            </a:r>
            <a:r>
              <a:rPr sz="1050" b="0" i="0" baseline="-25000">
                <a:solidFill>
                  <a:srgbClr val="13293D"/>
                </a:solidFill>
                <a:latin typeface="Calibri"/>
              </a:rPr>
              <a:t>factor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 plateaus below 1: this is the numerical overhead, independent of  </a:t>
            </a:r>
            <a:r>
              <a:rPr sz="1300" b="0" i="1">
                <a:solidFill>
                  <a:srgbClr val="13293D"/>
                </a:solidFill>
                <a:latin typeface="Calibri"/>
              </a:rPr>
              <a:t>t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600" b="1" i="1">
                <a:solidFill>
                  <a:srgbClr val="13293D"/>
                </a:solidFill>
                <a:latin typeface="Calibri"/>
              </a:rPr>
              <a:t>N</a:t>
            </a:r>
            <a:r>
              <a:rPr sz="1600" b="1" i="0">
                <a:solidFill>
                  <a:srgbClr val="13293D"/>
                </a:solidFill>
                <a:latin typeface="Calibri"/>
              </a:rPr>
              <a:t> = 15</a:t>
            </a:r>
          </a:p>
          <a:p>
            <a:pPr algn="l"/>
            <a:r>
              <a:rPr sz="1300" b="0" i="0">
                <a:solidFill>
                  <a:srgbClr val="13293D"/>
                </a:solidFill>
                <a:latin typeface="Calibri"/>
              </a:rPr>
              <a:t>flat curves:  </a:t>
            </a:r>
            <a:r>
              <a:rPr sz="130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 = 4  is a power of 2.</a:t>
            </a:r>
          </a:p>
        </p:txBody>
      </p:sp>
      <p:sp>
        <p:nvSpPr>
          <p:cNvPr id="90" name="Legend Box"/>
          <p:cNvSpPr/>
          <p:nvPr/>
        </p:nvSpPr>
        <p:spPr>
          <a:xfrm>
            <a:off x="8412480" y="3950000"/>
            <a:ext cx="3383280" cy="73152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2700">
            <a:solidFill>
              <a:srgbClr val="D7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egend Text"/>
          <p:cNvSpPr txBox="1"/>
          <p:nvPr/>
        </p:nvSpPr>
        <p:spPr>
          <a:xfrm>
            <a:off x="8557200" y="4019850"/>
            <a:ext cx="309372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C42020"/>
                </a:solidFill>
                <a:latin typeface="Calibri"/>
              </a:rPr>
              <a:t>red dashed</a:t>
            </a:r>
            <a:r>
              <a:rPr sz="1050" b="0" i="0">
                <a:solidFill>
                  <a:srgbClr val="5C6B78"/>
                </a:solidFill>
                <a:latin typeface="Calibri"/>
              </a:rPr>
              <a:t>  t = 2log</a:t>
            </a:r>
            <a:r>
              <a:rPr sz="1050" b="0" i="0" baseline="-25000">
                <a:solidFill>
                  <a:srgbClr val="5C6B78"/>
                </a:solidFill>
                <a:latin typeface="Calibri"/>
              </a:rPr>
              <a:t>2</a:t>
            </a:r>
            <a:r>
              <a:rPr sz="1050" b="0" i="1">
                <a:solidFill>
                  <a:srgbClr val="5C6B78"/>
                </a:solidFill>
                <a:latin typeface="Calibri"/>
              </a:rPr>
              <a:t>r</a:t>
            </a:r>
            <a:r>
              <a:rPr sz="1050" b="0" i="0">
                <a:solidFill>
                  <a:srgbClr val="5C6B78"/>
                </a:solidFill>
                <a:latin typeface="Calibri"/>
              </a:rPr>
              <a:t>  (instance)</a:t>
            </a:r>
          </a:p>
          <a:p>
            <a:pPr algn="l"/>
            <a:r>
              <a:rPr sz="1050" b="1" i="0">
                <a:solidFill>
                  <a:srgbClr val="1B5E32"/>
                </a:solidFill>
                <a:latin typeface="Calibri"/>
              </a:rPr>
              <a:t>dark green dotted</a:t>
            </a:r>
            <a:r>
              <a:rPr sz="1050" b="0" i="0">
                <a:solidFill>
                  <a:srgbClr val="5C6B78"/>
                </a:solidFill>
                <a:latin typeface="Calibri"/>
              </a:rPr>
              <a:t>  t = 2</a:t>
            </a:r>
            <a:r>
              <a:rPr sz="1050" b="0" i="1">
                <a:solidFill>
                  <a:srgbClr val="5C6B78"/>
                </a:solidFill>
                <a:latin typeface="Calibri"/>
              </a:rPr>
              <a:t>n</a:t>
            </a:r>
            <a:r>
              <a:rPr sz="1050" b="0" i="0">
                <a:solidFill>
                  <a:srgbClr val="5C6B78"/>
                </a:solidFill>
                <a:latin typeface="Calibri"/>
              </a:rPr>
              <a:t> + 1  (worst-case bound)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6311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mbria"/>
              </a:rPr>
              <a:t>N = 15 is deceptive  —  the non-monotonic dip</a:t>
            </a:r>
          </a:p>
        </p:txBody>
      </p:sp>
      <p:pic>
        <p:nvPicPr>
          <p:cNvPr id="5" name="Picture 4" descr="s_d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132320" cy="42687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463040"/>
            <a:ext cx="3931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Aft>
                <a:spcPts val="1200"/>
              </a:spcAft>
              <a:buFont typeface="Arial"/>
              <a:buChar char="•"/>
            </a:pPr>
            <a:r>
              <a:rPr sz="140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 = 15  has  </a:t>
            </a:r>
            <a:r>
              <a:rPr sz="1400" b="1" i="1">
                <a:solidFill>
                  <a:srgbClr val="13293D"/>
                </a:solidFill>
                <a:latin typeface="Calibri"/>
              </a:rPr>
              <a:t>r</a:t>
            </a:r>
            <a:r>
              <a:rPr sz="1400" b="1" i="0">
                <a:solidFill>
                  <a:srgbClr val="13293D"/>
                </a:solidFill>
                <a:latin typeface="Calibri"/>
              </a:rPr>
              <a:t> = 4 = 2²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:  the phases  </a:t>
            </a:r>
            <a:r>
              <a:rPr sz="1400" b="0" i="1">
                <a:solidFill>
                  <a:srgbClr val="13293D"/>
                </a:solidFill>
                <a:latin typeface="Calibri"/>
              </a:rPr>
              <a:t>k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⁄4  are exact in 2 bits  →  success already at  </a:t>
            </a:r>
            <a:r>
              <a:rPr sz="1400" b="0" i="1">
                <a:solidFill>
                  <a:srgbClr val="13293D"/>
                </a:solidFill>
                <a:latin typeface="Calibri"/>
              </a:rPr>
              <a:t>t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 = 2.</a:t>
            </a:r>
          </a:p>
          <a:p>
            <a:pPr algn="l" indent="-228600" marL="228600">
              <a:spcAft>
                <a:spcPts val="1200"/>
              </a:spcAft>
              <a:buFont typeface="Arial"/>
              <a:buChar char="•"/>
            </a:pPr>
            <a:r>
              <a:rPr sz="1400" b="0" i="0">
                <a:solidFill>
                  <a:srgbClr val="13293D"/>
                </a:solidFill>
                <a:latin typeface="Calibri"/>
              </a:rPr>
              <a:t>With  </a:t>
            </a:r>
            <a:r>
              <a:rPr sz="1400" b="0" i="1">
                <a:solidFill>
                  <a:srgbClr val="13293D"/>
                </a:solidFill>
                <a:latin typeface="Calibri"/>
              </a:rPr>
              <a:t>t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  tiny, the only representable values  </a:t>
            </a:r>
            <a:r>
              <a:rPr sz="1400" b="0" i="1">
                <a:solidFill>
                  <a:srgbClr val="13293D"/>
                </a:solidFill>
                <a:latin typeface="Calibri"/>
              </a:rPr>
              <a:t>y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⁄2</a:t>
            </a:r>
            <a:r>
              <a:rPr sz="1120" b="0" i="1" baseline="30000">
                <a:solidFill>
                  <a:srgbClr val="13293D"/>
                </a:solidFill>
                <a:latin typeface="Calibri"/>
              </a:rPr>
              <a:t>t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  coincide by aliasing with true  </a:t>
            </a:r>
            <a:r>
              <a:rPr sz="1400" b="0" i="1">
                <a:solidFill>
                  <a:srgbClr val="13293D"/>
                </a:solidFill>
                <a:latin typeface="Calibri"/>
              </a:rPr>
              <a:t>k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⁄</a:t>
            </a:r>
            <a:r>
              <a:rPr sz="140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  values.</a:t>
            </a:r>
          </a:p>
          <a:p>
            <a:pPr algn="l" indent="-228600" marL="228600">
              <a:spcAft>
                <a:spcPts val="1200"/>
              </a:spcAft>
              <a:buFont typeface="Arial"/>
              <a:buChar char="•"/>
            </a:pPr>
            <a:r>
              <a:rPr sz="1400" b="0" i="0">
                <a:solidFill>
                  <a:srgbClr val="13293D"/>
                </a:solidFill>
                <a:latin typeface="Calibri"/>
              </a:rPr>
              <a:t>As soon as  </a:t>
            </a:r>
            <a:r>
              <a:rPr sz="1400" b="0" i="1">
                <a:solidFill>
                  <a:srgbClr val="13293D"/>
                </a:solidFill>
                <a:latin typeface="Calibri"/>
              </a:rPr>
              <a:t>t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  is enough to sample phases that are NOT  </a:t>
            </a:r>
            <a:r>
              <a:rPr sz="1400" b="0" i="1">
                <a:solidFill>
                  <a:srgbClr val="13293D"/>
                </a:solidFill>
                <a:latin typeface="Calibri"/>
              </a:rPr>
              <a:t>k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⁄</a:t>
            </a:r>
            <a:r>
              <a:rPr sz="140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  but not enough to resolve them, success collapses  (minimum at  </a:t>
            </a:r>
            <a:r>
              <a:rPr sz="1400" b="0" i="1">
                <a:solidFill>
                  <a:srgbClr val="13293D"/>
                </a:solidFill>
                <a:latin typeface="Calibri"/>
              </a:rPr>
              <a:t>t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 ≈ </a:t>
            </a:r>
            <a:r>
              <a:rPr sz="140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400" b="0" i="0">
                <a:solidFill>
                  <a:srgbClr val="13293D"/>
                </a:solidFill>
                <a:latin typeface="Calibri"/>
              </a:rPr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6311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mbria"/>
              </a:rPr>
              <a:t>Space requirement vs. numerical overhead</a:t>
            </a:r>
          </a:p>
        </p:txBody>
      </p:sp>
      <p:pic>
        <p:nvPicPr>
          <p:cNvPr id="5" name="Picture 4" descr="s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06640" cy="42357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554480"/>
            <a:ext cx="34747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6E8E"/>
                </a:solidFill>
                <a:latin typeface="Calibri"/>
              </a:rPr>
              <a:t>Rise of  </a:t>
            </a:r>
            <a:r>
              <a:rPr sz="1500" b="1" i="1">
                <a:solidFill>
                  <a:srgbClr val="0E6E8E"/>
                </a:solidFill>
                <a:latin typeface="Calibri"/>
              </a:rPr>
              <a:t>P</a:t>
            </a:r>
            <a:r>
              <a:rPr sz="1200" b="1" i="0" baseline="-25000">
                <a:solidFill>
                  <a:srgbClr val="0E6E8E"/>
                </a:solidFill>
                <a:latin typeface="Calibri"/>
              </a:rPr>
              <a:t>resolve</a:t>
            </a:r>
          </a:p>
          <a:p>
            <a:pPr algn="l">
              <a:spcAft>
                <a:spcPts val="1400"/>
              </a:spcAft>
            </a:pPr>
            <a:r>
              <a:rPr sz="1300" b="0" i="0">
                <a:solidFill>
                  <a:srgbClr val="13293D"/>
                </a:solidFill>
                <a:latin typeface="Calibri"/>
              </a:rPr>
              <a:t>= the register has reached  ≈ 2 log</a:t>
            </a:r>
            <a:r>
              <a:rPr sz="1050" b="0" i="0" baseline="-25000">
                <a:solidFill>
                  <a:srgbClr val="13293D"/>
                </a:solidFill>
                <a:latin typeface="Calibri"/>
              </a:rPr>
              <a:t>2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 </a:t>
            </a:r>
            <a:r>
              <a:rPr sz="130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  bits.  This is the SPACE cost.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5C6B78"/>
                </a:solidFill>
                <a:latin typeface="Calibri"/>
              </a:rPr>
              <a:t>Residual gap</a:t>
            </a:r>
          </a:p>
          <a:p>
            <a:pPr algn="l">
              <a:spcAft>
                <a:spcPts val="1400"/>
              </a:spcAft>
            </a:pPr>
            <a:r>
              <a:rPr sz="1300" b="0" i="0">
                <a:solidFill>
                  <a:srgbClr val="13293D"/>
                </a:solidFill>
                <a:latin typeface="Calibri"/>
              </a:rPr>
              <a:t>= </a:t>
            </a:r>
            <a:r>
              <a:rPr sz="1300" b="0" i="1">
                <a:solidFill>
                  <a:srgbClr val="13293D"/>
                </a:solidFill>
                <a:latin typeface="Calibri"/>
              </a:rPr>
              <a:t>k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 = 0, </a:t>
            </a:r>
            <a:r>
              <a:rPr sz="130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 odd, gcd(</a:t>
            </a:r>
            <a:r>
              <a:rPr sz="1300" b="0" i="1">
                <a:solidFill>
                  <a:srgbClr val="13293D"/>
                </a:solidFill>
                <a:latin typeface="Calibri"/>
              </a:rPr>
              <a:t>k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,</a:t>
            </a:r>
            <a:r>
              <a:rPr sz="130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) &gt; 1.  Constant in  </a:t>
            </a:r>
            <a:r>
              <a:rPr sz="1300" b="0" i="1">
                <a:solidFill>
                  <a:srgbClr val="13293D"/>
                </a:solidFill>
                <a:latin typeface="Calibri"/>
              </a:rPr>
              <a:t>t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, reduced by repeating (or changing  </a:t>
            </a:r>
            <a:r>
              <a:rPr sz="1300" b="0" i="1">
                <a:solidFill>
                  <a:srgbClr val="13293D"/>
                </a:solidFill>
                <a:latin typeface="Calibri"/>
              </a:rPr>
              <a:t>a</a:t>
            </a:r>
            <a:r>
              <a:rPr sz="1300" b="0" i="0">
                <a:solidFill>
                  <a:srgbClr val="13293D"/>
                </a:solidFill>
                <a:latin typeface="Calibri"/>
              </a:rPr>
              <a:t>).</a:t>
            </a:r>
          </a:p>
          <a:p>
            <a:pPr algn="l"/>
            <a:r>
              <a:rPr sz="1300" b="0" i="1">
                <a:solidFill>
                  <a:srgbClr val="13293D"/>
                </a:solidFill>
                <a:latin typeface="Calibri"/>
              </a:rPr>
              <a:t>Separating the two is the point of the experiment.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E0A63C"/>
                </a:solidFill>
                <a:latin typeface="Calibri"/>
              </a:rPr>
              <a:t>Let’s define  </a:t>
            </a:r>
            <a:r>
              <a:rPr sz="1300" b="0" i="1">
                <a:solidFill>
                  <a:srgbClr val="E0A63C"/>
                </a:solidFill>
                <a:latin typeface="Calibri"/>
              </a:rPr>
              <a:t>t</a:t>
            </a:r>
            <a:r>
              <a:rPr sz="1050" b="0" i="0" baseline="30000">
                <a:solidFill>
                  <a:srgbClr val="E0A63C"/>
                </a:solidFill>
                <a:latin typeface="Calibri"/>
              </a:rPr>
              <a:t>*</a:t>
            </a:r>
            <a:r>
              <a:rPr sz="1300" b="0" i="0">
                <a:solidFill>
                  <a:srgbClr val="E0A63C"/>
                </a:solidFill>
                <a:latin typeface="Calibri"/>
              </a:rPr>
              <a:t>  as the smallest amount of counting qubits for which  </a:t>
            </a:r>
            <a:r>
              <a:rPr sz="1300" b="0" i="1">
                <a:solidFill>
                  <a:srgbClr val="E0A63C"/>
                </a:solidFill>
                <a:latin typeface="Calibri"/>
              </a:rPr>
              <a:t>P</a:t>
            </a:r>
            <a:r>
              <a:rPr sz="1050" b="0" i="0" baseline="-25000">
                <a:solidFill>
                  <a:srgbClr val="E0A63C"/>
                </a:solidFill>
                <a:latin typeface="Calibri"/>
              </a:rPr>
              <a:t>factor</a:t>
            </a:r>
            <a:r>
              <a:rPr sz="1300" b="0" i="0">
                <a:solidFill>
                  <a:srgbClr val="E0A63C"/>
                </a:solidFill>
                <a:latin typeface="Calibri"/>
              </a:rPr>
              <a:t>(</a:t>
            </a:r>
            <a:r>
              <a:rPr sz="1300" b="0" i="1">
                <a:solidFill>
                  <a:srgbClr val="E0A63C"/>
                </a:solidFill>
                <a:latin typeface="Calibri"/>
              </a:rPr>
              <a:t>t</a:t>
            </a:r>
            <a:r>
              <a:rPr sz="1300" b="0" i="0">
                <a:solidFill>
                  <a:srgbClr val="E0A63C"/>
                </a:solidFill>
                <a:latin typeface="Calibri"/>
              </a:rPr>
              <a:t>)  reaches 90% of its plateau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6311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mbria"/>
              </a:rPr>
              <a:t>Width and circuit cost</a:t>
            </a:r>
          </a:p>
        </p:txBody>
      </p:sp>
      <p:pic>
        <p:nvPicPr>
          <p:cNvPr id="5" name="Picture 4" descr="s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00000"/>
            <a:ext cx="8412480" cy="3205605"/>
          </a:xfrm>
          <a:prstGeom prst="rect">
            <a:avLst/>
          </a:prstGeom>
          <a:ln w="12700">
            <a:solidFill>
              <a:srgbClr val="5C6B78"/>
            </a:solidFill>
          </a:ln>
        </p:spPr>
      </p:pic>
      <p:sp>
        <p:nvSpPr>
          <p:cNvPr id="92" name="Chart Title Left"/>
          <p:cNvSpPr txBox="1"/>
          <p:nvPr/>
        </p:nvSpPr>
        <p:spPr>
          <a:xfrm>
            <a:off x="502920" y="1350000"/>
            <a:ext cx="3859591" cy="492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2000" b="1" i="0">
                <a:solidFill>
                  <a:srgbClr val="13293D"/>
                </a:solidFill>
                <a:latin typeface="Calibri"/>
              </a:rPr>
              <a:t>Circuit width at  </a:t>
            </a:r>
            <a:r>
              <a:rPr sz="2000" b="1" i="1">
                <a:solidFill>
                  <a:srgbClr val="13293D"/>
                </a:solidFill>
                <a:latin typeface="Calibri"/>
              </a:rPr>
              <a:t>t</a:t>
            </a:r>
            <a:r>
              <a:rPr sz="1400" b="1" i="1" baseline="30000">
                <a:solidFill>
                  <a:srgbClr val="13293D"/>
                </a:solidFill>
                <a:latin typeface="Calibri"/>
              </a:rPr>
              <a:t>*</a:t>
            </a:r>
          </a:p>
        </p:txBody>
      </p:sp>
      <p:sp>
        <p:nvSpPr>
          <p:cNvPr id="93" name="Chart Title Right"/>
          <p:cNvSpPr txBox="1"/>
          <p:nvPr/>
        </p:nvSpPr>
        <p:spPr>
          <a:xfrm>
            <a:off x="4362511" y="1350000"/>
            <a:ext cx="4552889" cy="492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2000" b="1" i="0">
                <a:solidFill>
                  <a:srgbClr val="13293D"/>
                </a:solidFill>
                <a:latin typeface="Calibri"/>
              </a:rPr>
              <a:t>Linear in width, quadratic in QFT</a:t>
            </a:r>
            <a:r>
              <a:rPr sz="1400" b="1" i="0" baseline="30000">
                <a:solidFill>
                  <a:srgbClr val="13293D"/>
                </a:solidFill>
                <a:latin typeface="Calibri"/>
              </a:rPr>
              <a:t>−1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0"/>
            <a:ext cx="2651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1">
                <a:solidFill>
                  <a:srgbClr val="E0A63C"/>
                </a:solidFill>
                <a:latin typeface="Calibri"/>
              </a:rPr>
              <a:t>t</a:t>
            </a:r>
            <a:r>
              <a:rPr sz="1360" b="1" i="0" baseline="30000">
                <a:solidFill>
                  <a:srgbClr val="E0A63C"/>
                </a:solidFill>
                <a:latin typeface="Calibri"/>
              </a:rPr>
              <a:t>*</a:t>
            </a:r>
            <a:r>
              <a:rPr sz="1700" b="1" i="0">
                <a:solidFill>
                  <a:srgbClr val="E0A63C"/>
                </a:solidFill>
                <a:latin typeface="Calibri"/>
              </a:rPr>
              <a:t> ≈ 1.5–1.6 </a:t>
            </a:r>
            <a:r>
              <a:rPr sz="1700" b="1" i="1">
                <a:solidFill>
                  <a:srgbClr val="E0A63C"/>
                </a:solidFill>
                <a:latin typeface="Calibri"/>
              </a:rPr>
              <a:t>n</a:t>
            </a:r>
          </a:p>
          <a:p>
            <a:pPr algn="l">
              <a:spcAft>
                <a:spcPts val="1400"/>
              </a:spcAft>
            </a:pPr>
            <a:r>
              <a:rPr sz="1200" b="0" i="0">
                <a:solidFill>
                  <a:srgbClr val="5C6B78"/>
                </a:solidFill>
                <a:latin typeface="Calibri"/>
              </a:rPr>
              <a:t>(</a:t>
            </a:r>
            <a:r>
              <a:rPr sz="1200" b="0" i="1">
                <a:solidFill>
                  <a:srgbClr val="5C6B78"/>
                </a:solidFill>
                <a:latin typeface="Calibri"/>
              </a:rPr>
              <a:t>N</a:t>
            </a:r>
            <a:r>
              <a:rPr sz="1200" b="0" i="0">
                <a:solidFill>
                  <a:srgbClr val="5C6B78"/>
                </a:solidFill>
                <a:latin typeface="Calibri"/>
              </a:rPr>
              <a:t> = 15:  0.5, the lucky case)</a:t>
            </a:r>
          </a:p>
          <a:p>
            <a:pPr algn="l" indent="-228600" marL="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3293D"/>
                </a:solidFill>
                <a:latin typeface="Calibri"/>
              </a:rPr>
              <a:t>width  </a:t>
            </a:r>
            <a:r>
              <a:rPr sz="1350" b="0" i="1">
                <a:solidFill>
                  <a:srgbClr val="13293D"/>
                </a:solidFill>
                <a:latin typeface="Calibri"/>
              </a:rPr>
              <a:t>t</a:t>
            </a:r>
            <a:r>
              <a:rPr sz="1350" b="0" i="0">
                <a:solidFill>
                  <a:srgbClr val="13293D"/>
                </a:solidFill>
                <a:latin typeface="Calibri"/>
              </a:rPr>
              <a:t> + </a:t>
            </a:r>
            <a:r>
              <a:rPr sz="135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350" b="0" i="0">
                <a:solidFill>
                  <a:srgbClr val="13293D"/>
                </a:solidFill>
                <a:latin typeface="Calibri"/>
              </a:rPr>
              <a:t>:  linear</a:t>
            </a:r>
          </a:p>
          <a:p>
            <a:pPr algn="l" indent="-228600" marL="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3293D"/>
                </a:solidFill>
                <a:latin typeface="Calibri"/>
              </a:rPr>
              <a:t>QFT⁻¹  </a:t>
            </a:r>
            <a:r>
              <a:rPr sz="1350" b="0" i="1">
                <a:solidFill>
                  <a:srgbClr val="13293D"/>
                </a:solidFill>
                <a:latin typeface="Calibri"/>
              </a:rPr>
              <a:t>t</a:t>
            </a:r>
            <a:r>
              <a:rPr sz="1350" b="0" i="0">
                <a:solidFill>
                  <a:srgbClr val="13293D"/>
                </a:solidFill>
                <a:latin typeface="Calibri"/>
              </a:rPr>
              <a:t>(</a:t>
            </a:r>
            <a:r>
              <a:rPr sz="1350" b="0" i="1">
                <a:solidFill>
                  <a:srgbClr val="13293D"/>
                </a:solidFill>
                <a:latin typeface="Calibri"/>
              </a:rPr>
              <a:t>t</a:t>
            </a:r>
            <a:r>
              <a:rPr sz="1350" b="0" i="0">
                <a:solidFill>
                  <a:srgbClr val="13293D"/>
                </a:solidFill>
                <a:latin typeface="Calibri"/>
              </a:rPr>
              <a:t>−1)⁄2:  quadratic</a:t>
            </a:r>
          </a:p>
          <a:p>
            <a:pPr algn="l" indent="-228600" marL="228600">
              <a:buFont typeface="Arial"/>
              <a:buChar char="•"/>
            </a:pPr>
            <a:r>
              <a:rPr sz="1350" b="0" i="0">
                <a:solidFill>
                  <a:srgbClr val="13293D"/>
                </a:solidFill>
                <a:latin typeface="Calibri"/>
              </a:rPr>
              <a:t>only 2–4 distinct  </a:t>
            </a:r>
            <a:r>
              <a:rPr sz="1350" b="0" i="1">
                <a:solidFill>
                  <a:srgbClr val="13293D"/>
                </a:solidFill>
                <a:latin typeface="Calibri"/>
              </a:rPr>
              <a:t>M</a:t>
            </a:r>
            <a:r>
              <a:rPr sz="1200" b="0" i="1" baseline="-25000">
                <a:solidFill>
                  <a:srgbClr val="13293D"/>
                </a:solidFill>
                <a:latin typeface="Calibri"/>
              </a:rPr>
              <a:t>b</a:t>
            </a:r>
            <a:r>
              <a:rPr sz="1350" b="0" i="0">
                <a:solidFill>
                  <a:srgbClr val="13293D"/>
                </a:solidFill>
                <a:latin typeface="Calibri"/>
              </a:rPr>
              <a:t>  operators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6311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Conclusions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1168" y="1600200"/>
          <a:ext cx="630936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280"/>
                <a:gridCol w="914400"/>
                <a:gridCol w="1097280"/>
                <a:gridCol w="1920240"/>
                <a:gridCol w="128016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 i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82296" marR="82296" marT="36576" marB="36576" anchor="ctr">
                    <a:solidFill>
                      <a:srgbClr val="0E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82296" marR="82296" marT="36576" marB="36576" anchor="ctr">
                    <a:solidFill>
                      <a:srgbClr val="0E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1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  <a:r>
                        <a:rPr sz="1120" b="1" i="0" baseline="30000">
                          <a:solidFill>
                            <a:srgbClr val="FFFFFF"/>
                          </a:solidFill>
                          <a:latin typeface="Calibri"/>
                        </a:rPr>
                        <a:t>*</a:t>
                      </a:r>
                    </a:p>
                  </a:txBody>
                  <a:tcPr marL="82296" marR="82296" marT="36576" marB="36576" anchor="ctr">
                    <a:solidFill>
                      <a:srgbClr val="0E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width</a:t>
                      </a:r>
                    </a:p>
                  </a:txBody>
                  <a:tcPr marL="82296" marR="82296" marT="36576" marB="36576" anchor="ctr">
                    <a:solidFill>
                      <a:srgbClr val="0E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1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  <a:r>
                        <a:rPr sz="1120" b="1" i="0" baseline="30000">
                          <a:solidFill>
                            <a:srgbClr val="FFFFFF"/>
                          </a:solidFill>
                          <a:latin typeface="Calibri"/>
                        </a:rPr>
                        <a:t>*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⁄</a:t>
                      </a:r>
                      <a:r>
                        <a:rPr sz="1400" b="1" i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82296" marR="82296" marT="36576" marB="36576" anchor="ctr">
                    <a:solidFill>
                      <a:srgbClr val="0E6E8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93D"/>
                          </a:solidFill>
                          <a:latin typeface="Calibri"/>
                        </a:rPr>
                        <a:t>1.57</a:t>
                      </a:r>
                    </a:p>
                  </a:txBody>
                  <a:tcPr marL="82296" marR="82296" marT="36576" marB="36576" anchor="ctr"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941168" y="4160520"/>
            <a:ext cx="63093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Aft>
                <a:spcPts val="1200"/>
              </a:spcAft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phase-only register is  ~1.5×  the one holding the number.</a:t>
            </a:r>
          </a:p>
          <a:p>
            <a:pPr algn="l" indent="-228600" marL="228600">
              <a:spcAft>
                <a:spcPts val="1200"/>
              </a:spcAft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Calibri"/>
              </a:rPr>
              <a:t>Shor’s theorem: asymptotically  </a:t>
            </a:r>
            <a:r>
              <a:rPr sz="1450" b="0" i="1">
                <a:solidFill>
                  <a:srgbClr val="FFFFFF"/>
                </a:solidFill>
                <a:latin typeface="Calibri"/>
              </a:rPr>
              <a:t>t</a:t>
            </a:r>
            <a:r>
              <a:rPr sz="1160" b="0" i="0" baseline="30000">
                <a:solidFill>
                  <a:srgbClr val="FFFFFF"/>
                </a:solidFill>
                <a:latin typeface="Calibri"/>
              </a:rPr>
              <a:t>*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 ~  </a:t>
            </a:r>
            <a:r>
              <a:rPr sz="1450" b="0" i="1">
                <a:solidFill>
                  <a:srgbClr val="FFFFFF"/>
                </a:solidFill>
                <a:latin typeface="Calibri"/>
              </a:rPr>
              <a:t>n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+ </a:t>
            </a:r>
            <a:r>
              <a:rPr sz="1450" b="0" i="1">
                <a:solidFill>
                  <a:srgbClr val="FFFFFF"/>
                </a:solidFill>
                <a:latin typeface="Calibri"/>
              </a:rPr>
              <a:t>m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,  with  </a:t>
            </a:r>
            <a:r>
              <a:rPr sz="1450" b="0" i="1">
                <a:solidFill>
                  <a:srgbClr val="FFFFFF"/>
                </a:solidFill>
                <a:latin typeface="Calibri"/>
              </a:rPr>
              <a:t>P</a:t>
            </a:r>
            <a:r>
              <a:rPr sz="1160" b="0" i="0" baseline="-25000">
                <a:solidFill>
                  <a:srgbClr val="FFFFFF"/>
                </a:solidFill>
                <a:latin typeface="Calibri"/>
              </a:rPr>
              <a:t>factor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≥ 1 − 1⁄2ᵐ  (</a:t>
            </a:r>
            <a:r>
              <a:rPr sz="1450" b="0" i="1">
                <a:solidFill>
                  <a:srgbClr val="FFFFFF"/>
                </a:solidFill>
                <a:latin typeface="Calibri"/>
              </a:rPr>
              <a:t>m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= extra qubits beyond  </a:t>
            </a:r>
            <a:r>
              <a:rPr sz="1450" b="0" i="1">
                <a:solidFill>
                  <a:srgbClr val="FFFFFF"/>
                </a:solidFill>
                <a:latin typeface="Calibri"/>
              </a:rPr>
              <a:t>n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 indent="-228600" marL="228600"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Calibri"/>
              </a:rPr>
              <a:t>Within the same circuit:  linear width, quadratic QFT⁻¹, modular arithmetic with few distinct  </a:t>
            </a:r>
            <a:r>
              <a:rPr sz="1450" b="0" i="1">
                <a:solidFill>
                  <a:srgbClr val="FFFFFF"/>
                </a:solidFill>
                <a:latin typeface="Calibri"/>
              </a:rPr>
              <a:t>M</a:t>
            </a:r>
            <a:r>
              <a:rPr sz="1160" b="0" i="1" baseline="-25000">
                <a:solidFill>
                  <a:srgbClr val="FFFFFF"/>
                </a:solidFill>
                <a:latin typeface="Calibri"/>
              </a:rPr>
              <a:t>b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[1]  P. W. Shor,  </a:t>
            </a:r>
            <a:r>
              <a:rPr sz="1500" b="0" i="1">
                <a:solidFill>
                  <a:srgbClr val="C5D3DB"/>
                </a:solidFill>
                <a:latin typeface="Calibri"/>
              </a:rPr>
              <a:t>Polynomial-Time Algorithms for Prime Factorization and Discrete Logarithms on a Quantum Computer</a:t>
            </a:r>
            <a:r>
              <a:rPr sz="1500" b="0" i="0">
                <a:solidFill>
                  <a:srgbClr val="C5D3DB"/>
                </a:solidFill>
                <a:latin typeface="Calibri"/>
              </a:rPr>
              <a:t>.  SIAM J. Comput. 26(5), 1997  (arXiv: quant-ph/9508027).</a:t>
            </a:r>
          </a:p>
          <a:p>
            <a:pPr algn="l">
              <a:spcAft>
                <a:spcPts val="1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[2]  IBM Quantum,  </a:t>
            </a:r>
            <a:r>
              <a:rPr sz="1500" b="0" i="1">
                <a:solidFill>
                  <a:srgbClr val="C5D3DB"/>
                </a:solidFill>
                <a:latin typeface="Calibri"/>
              </a:rPr>
              <a:t>Shor's algorithm</a:t>
            </a:r>
            <a:r>
              <a:rPr sz="1500" b="0" i="0">
                <a:solidFill>
                  <a:srgbClr val="C5D3DB"/>
                </a:solidFill>
                <a:latin typeface="Calibri"/>
              </a:rPr>
              <a:t>  —  tutorial.  quantum.cloud.ibm.com/docs/en/tutorials/shors-algorithm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6311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mbria"/>
              </a:rPr>
              <a:t>Shor's Algorithm: the Full Pipeline</a:t>
            </a:r>
          </a:p>
        </p:txBody>
      </p:sp>
      <p:sp>
        <p:nvSpPr>
          <p:cNvPr id="5" name="Connector Line"/>
          <p:cNvSpPr/>
          <p:nvPr/>
        </p:nvSpPr>
        <p:spPr>
          <a:xfrm>
            <a:off x="819404" y="1807464"/>
            <a:ext cx="25400" cy="3703320"/>
          </a:xfrm>
          <a:prstGeom prst="rect">
            <a:avLst/>
          </a:prstGeom>
          <a:solidFill>
            <a:srgbClr val="D7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epCircle1"/>
          <p:cNvSpPr/>
          <p:nvPr/>
        </p:nvSpPr>
        <p:spPr>
          <a:xfrm>
            <a:off x="548640" y="1524000"/>
            <a:ext cx="566928" cy="566928"/>
          </a:xfrm>
          <a:prstGeom prst="ellipse">
            <a:avLst/>
          </a:prstGeom>
          <a:solidFill>
            <a:srgbClr val="0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StepText1"/>
          <p:cNvSpPr txBox="1"/>
          <p:nvPr/>
        </p:nvSpPr>
        <p:spPr>
          <a:xfrm>
            <a:off x="1435608" y="1478280"/>
            <a:ext cx="10207447" cy="111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13293D"/>
                </a:solidFill>
                <a:latin typeface="Cambria"/>
              </a:rPr>
              <a:t>Order-finding reduction</a:t>
            </a:r>
          </a:p>
          <a:p>
            <a:pPr algn="l"/>
            <a:r>
              <a:rPr sz="1450" b="0" i="0">
                <a:solidFill>
                  <a:srgbClr val="13293D"/>
                </a:solidFill>
                <a:latin typeface="Calibri"/>
              </a:rPr>
              <a:t>Factoring 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 reduces to finding the order 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 of a random 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a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 coprime to 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:  gcd(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a</a:t>
            </a:r>
            <a:r>
              <a:rPr sz="1950" b="0" i="1" baseline="30000">
                <a:solidFill>
                  <a:srgbClr val="13293D"/>
                </a:solidFill>
                <a:latin typeface="Calibri"/>
              </a:rPr>
              <a:t>r⁄2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± 1,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)  yields a non-trivial factor with probability  ≥ 1 − 1⁄2ᵏ⁻¹.</a:t>
            </a:r>
          </a:p>
        </p:txBody>
      </p:sp>
      <p:sp>
        <p:nvSpPr>
          <p:cNvPr id="8" name="StepCircle2"/>
          <p:cNvSpPr/>
          <p:nvPr/>
        </p:nvSpPr>
        <p:spPr>
          <a:xfrm>
            <a:off x="548640" y="2758440"/>
            <a:ext cx="566928" cy="566928"/>
          </a:xfrm>
          <a:prstGeom prst="ellipse">
            <a:avLst/>
          </a:prstGeom>
          <a:solidFill>
            <a:srgbClr val="0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StepText2"/>
          <p:cNvSpPr txBox="1"/>
          <p:nvPr/>
        </p:nvSpPr>
        <p:spPr>
          <a:xfrm>
            <a:off x="1435608" y="2712720"/>
            <a:ext cx="10207447" cy="111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13293D"/>
                </a:solidFill>
                <a:latin typeface="Cambria"/>
              </a:rPr>
              <a:t>Quantum Phase Estimation</a:t>
            </a:r>
          </a:p>
          <a:p>
            <a:pPr algn="l"/>
            <a:r>
              <a:rPr sz="1450" b="0" i="0">
                <a:solidFill>
                  <a:srgbClr val="13293D"/>
                </a:solidFill>
                <a:latin typeface="Calibri"/>
              </a:rPr>
              <a:t>A QPE circuit estimates the eigenphase  θ =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k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⁄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 of the operator 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U</a:t>
            </a:r>
            <a:r>
              <a:rPr sz="1160" b="0" i="1" baseline="-25000">
                <a:solidFill>
                  <a:srgbClr val="13293D"/>
                </a:solidFill>
                <a:latin typeface="Calibri"/>
              </a:rPr>
              <a:t>a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 on a counting register of 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t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 qubits.</a:t>
            </a:r>
          </a:p>
        </p:txBody>
      </p:sp>
      <p:sp>
        <p:nvSpPr>
          <p:cNvPr id="10" name="StepCircle3"/>
          <p:cNvSpPr/>
          <p:nvPr/>
        </p:nvSpPr>
        <p:spPr>
          <a:xfrm>
            <a:off x="548640" y="3992880"/>
            <a:ext cx="566928" cy="566928"/>
          </a:xfrm>
          <a:prstGeom prst="ellipse">
            <a:avLst/>
          </a:prstGeom>
          <a:solidFill>
            <a:srgbClr val="0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StepText3"/>
          <p:cNvSpPr txBox="1"/>
          <p:nvPr/>
        </p:nvSpPr>
        <p:spPr>
          <a:xfrm>
            <a:off x="1435608" y="3947160"/>
            <a:ext cx="10207447" cy="111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13293D"/>
                </a:solidFill>
                <a:latin typeface="Cambria"/>
              </a:rPr>
              <a:t>Continued fractions</a:t>
            </a:r>
          </a:p>
          <a:p>
            <a:pPr algn="l"/>
            <a:r>
              <a:rPr sz="1450" b="0" i="0">
                <a:solidFill>
                  <a:srgbClr val="13293D"/>
                </a:solidFill>
                <a:latin typeface="Calibri"/>
              </a:rPr>
              <a:t>The measured phase 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y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⁄2</a:t>
            </a:r>
            <a:r>
              <a:rPr sz="1950" b="0" i="1" baseline="30000">
                <a:solidFill>
                  <a:srgbClr val="13293D"/>
                </a:solidFill>
                <a:latin typeface="Calibri"/>
              </a:rPr>
              <a:t>t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 is expanded as a continued fraction to recover the best approximation 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k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⁄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,  with denominator  &lt;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.</a:t>
            </a:r>
          </a:p>
        </p:txBody>
      </p:sp>
      <p:sp>
        <p:nvSpPr>
          <p:cNvPr id="12" name="StepCircle4"/>
          <p:cNvSpPr/>
          <p:nvPr/>
        </p:nvSpPr>
        <p:spPr>
          <a:xfrm>
            <a:off x="548640" y="5227320"/>
            <a:ext cx="566928" cy="566928"/>
          </a:xfrm>
          <a:prstGeom prst="ellipse">
            <a:avLst/>
          </a:prstGeom>
          <a:solidFill>
            <a:srgbClr val="0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3" name="StepText4"/>
          <p:cNvSpPr txBox="1"/>
          <p:nvPr/>
        </p:nvSpPr>
        <p:spPr>
          <a:xfrm>
            <a:off x="1435608" y="5181600"/>
            <a:ext cx="10207447" cy="111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13293D"/>
                </a:solidFill>
                <a:latin typeface="Cambria"/>
              </a:rPr>
              <a:t>Euclidean algorithm</a:t>
            </a:r>
          </a:p>
          <a:p>
            <a:pPr algn="l"/>
            <a:r>
              <a:rPr sz="1450" b="0" i="0">
                <a:solidFill>
                  <a:srgbClr val="13293D"/>
                </a:solidFill>
                <a:latin typeface="Calibri"/>
              </a:rPr>
              <a:t>Once 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 is known,  gcd(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a</a:t>
            </a:r>
            <a:r>
              <a:rPr sz="1950" b="0" i="1" baseline="30000">
                <a:solidFill>
                  <a:srgbClr val="13293D"/>
                </a:solidFill>
                <a:latin typeface="Calibri"/>
              </a:rPr>
              <a:t>r⁄2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 − 1,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)  is computed classically in polynomial time to extract the factors of  </a:t>
            </a:r>
            <a:r>
              <a:rPr sz="145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450" b="0" i="0">
                <a:solidFill>
                  <a:srgbClr val="13293D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6311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mbria"/>
              </a:rPr>
              <a:t>Inside the QPE Circuit</a:t>
            </a:r>
          </a:p>
        </p:txBody>
      </p:sp>
      <p:pic>
        <p:nvPicPr>
          <p:cNvPr id="5" name="Picture 4" descr="qpe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680960" cy="5372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83880" y="1463040"/>
            <a:ext cx="360781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E6E8E"/>
                </a:solidFill>
                <a:latin typeface="Calibri"/>
              </a:rPr>
              <a:t>The operator  </a:t>
            </a:r>
            <a:r>
              <a:rPr sz="1600" b="1" i="1">
                <a:solidFill>
                  <a:srgbClr val="0E6E8E"/>
                </a:solidFill>
                <a:latin typeface="Calibri"/>
              </a:rPr>
              <a:t>U</a:t>
            </a:r>
            <a:r>
              <a:rPr sz="1280" b="1" i="1" baseline="-25000">
                <a:solidFill>
                  <a:srgbClr val="0E6E8E"/>
                </a:solidFill>
                <a:latin typeface="Calibri"/>
              </a:rPr>
              <a:t>a</a:t>
            </a:r>
          </a:p>
          <a:p>
            <a:pPr algn="l">
              <a:spcAft>
                <a:spcPts val="1400"/>
              </a:spcAft>
            </a:pPr>
            <a:r>
              <a:rPr sz="1250" b="0" i="1">
                <a:solidFill>
                  <a:srgbClr val="13293D"/>
                </a:solidFill>
                <a:latin typeface="Calibri"/>
              </a:rPr>
              <a:t>U</a:t>
            </a:r>
            <a:r>
              <a:rPr sz="1150" b="0" i="1" baseline="-25000">
                <a:solidFill>
                  <a:srgbClr val="13293D"/>
                </a:solidFill>
                <a:latin typeface="Calibri"/>
              </a:rPr>
              <a:t>a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 |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x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⟩ = |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a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x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 mod 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⟩</a:t>
            </a:r>
            <a:br>
              <a:rPr sz="1250" b="0" i="0">
                <a:solidFill>
                  <a:srgbClr val="13293D"/>
                </a:solidFill>
                <a:latin typeface="Calibri"/>
              </a:rPr>
            </a:br>
            <a:r>
              <a:rPr sz="1250" b="0" i="0">
                <a:solidFill>
                  <a:srgbClr val="13293D"/>
                </a:solidFill>
                <a:latin typeface="Calibri"/>
              </a:rPr>
              <a:t>is a permutation, hence unitary.</a:t>
            </a:r>
            <a:br>
              <a:rPr sz="1250" b="0" i="0">
                <a:solidFill>
                  <a:srgbClr val="13293D"/>
                </a:solidFill>
                <a:latin typeface="Calibri"/>
              </a:rPr>
            </a:br>
            <a:r>
              <a:rPr sz="1250" b="0" i="0">
                <a:solidFill>
                  <a:srgbClr val="13293D"/>
                </a:solidFill>
                <a:latin typeface="Calibri"/>
              </a:rPr>
              <a:t>Its eigenvectors are</a:t>
            </a:r>
            <a:br>
              <a:rPr sz="1250" b="0" i="0">
                <a:solidFill>
                  <a:srgbClr val="13293D"/>
                </a:solidFill>
                <a:latin typeface="Calibri"/>
              </a:rPr>
            </a:br>
            <a:r>
              <a:rPr sz="1250" b="0" i="0">
                <a:solidFill>
                  <a:srgbClr val="13293D"/>
                </a:solidFill>
                <a:latin typeface="Calibri"/>
              </a:rPr>
              <a:t>|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u</a:t>
            </a:r>
            <a:r>
              <a:rPr sz="1150" b="0" i="1" baseline="-25000">
                <a:solidFill>
                  <a:srgbClr val="13293D"/>
                </a:solidFill>
                <a:latin typeface="Calibri"/>
              </a:rPr>
              <a:t>j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⟩ = (1⁄√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) Σ</a:t>
            </a:r>
            <a:r>
              <a:rPr sz="1150" b="0" i="1" baseline="-25000">
                <a:solidFill>
                  <a:srgbClr val="13293D"/>
                </a:solidFill>
                <a:latin typeface="Calibri"/>
              </a:rPr>
              <a:t>k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 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w</a:t>
            </a:r>
            <a:r>
              <a:rPr sz="1150" b="0" i="1" baseline="-25000">
                <a:solidFill>
                  <a:srgbClr val="13293D"/>
                </a:solidFill>
                <a:latin typeface="Calibri"/>
              </a:rPr>
              <a:t>r</a:t>
            </a:r>
            <a:r>
              <a:rPr sz="1150" b="0" i="1" baseline="30000">
                <a:solidFill>
                  <a:srgbClr val="13293D"/>
                </a:solidFill>
                <a:latin typeface="Calibri"/>
              </a:rPr>
              <a:t>−jk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 |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a</a:t>
            </a:r>
            <a:r>
              <a:rPr sz="1150" b="0" i="1" baseline="30000">
                <a:solidFill>
                  <a:srgbClr val="13293D"/>
                </a:solidFill>
                <a:latin typeface="Calibri"/>
              </a:rPr>
              <a:t>k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 mod 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N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⟩,</a:t>
            </a:r>
            <a:br>
              <a:rPr sz="1250" b="0" i="0">
                <a:solidFill>
                  <a:srgbClr val="13293D"/>
                </a:solidFill>
                <a:latin typeface="Calibri"/>
              </a:rPr>
            </a:br>
            <a:r>
              <a:rPr sz="1250" b="0" i="1">
                <a:solidFill>
                  <a:srgbClr val="13293D"/>
                </a:solidFill>
                <a:latin typeface="Calibri"/>
              </a:rPr>
              <a:t>j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 = 0, ..., 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−1,</a:t>
            </a:r>
            <a:br>
              <a:rPr sz="1250" b="0" i="0">
                <a:solidFill>
                  <a:srgbClr val="13293D"/>
                </a:solidFill>
                <a:latin typeface="Calibri"/>
              </a:rPr>
            </a:br>
            <a:r>
              <a:rPr sz="1250" b="0" i="0">
                <a:solidFill>
                  <a:srgbClr val="13293D"/>
                </a:solidFill>
                <a:latin typeface="Calibri"/>
              </a:rPr>
              <a:t>with eigenvalue  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w</a:t>
            </a:r>
            <a:r>
              <a:rPr sz="1150" b="0" i="1" baseline="-25000">
                <a:solidFill>
                  <a:srgbClr val="13293D"/>
                </a:solidFill>
                <a:latin typeface="Calibri"/>
              </a:rPr>
              <a:t>r</a:t>
            </a:r>
            <a:r>
              <a:rPr sz="1150" b="0" i="1" baseline="30000">
                <a:solidFill>
                  <a:srgbClr val="13293D"/>
                </a:solidFill>
                <a:latin typeface="Calibri"/>
              </a:rPr>
              <a:t>j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 = e</a:t>
            </a:r>
            <a:r>
              <a:rPr sz="1150" b="0" i="0" baseline="30000">
                <a:solidFill>
                  <a:srgbClr val="13293D"/>
                </a:solidFill>
                <a:latin typeface="Calibri"/>
              </a:rPr>
              <a:t>2πij⁄r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0A63C"/>
                </a:solidFill>
                <a:latin typeface="Calibri"/>
              </a:rPr>
              <a:t>Why start from  |1⟩</a:t>
            </a:r>
          </a:p>
          <a:p>
            <a:pPr algn="l"/>
            <a:r>
              <a:rPr sz="1250" b="0" i="0">
                <a:solidFill>
                  <a:srgbClr val="13293D"/>
                </a:solidFill>
                <a:latin typeface="Calibri"/>
              </a:rPr>
              <a:t>|1⟩ = (1⁄√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) Σ</a:t>
            </a:r>
            <a:r>
              <a:rPr sz="1150" b="0" i="1" baseline="-25000">
                <a:solidFill>
                  <a:srgbClr val="13293D"/>
                </a:solidFill>
                <a:latin typeface="Calibri"/>
              </a:rPr>
              <a:t>j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 |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u</a:t>
            </a:r>
            <a:r>
              <a:rPr sz="1150" b="0" i="1" baseline="-25000">
                <a:solidFill>
                  <a:srgbClr val="13293D"/>
                </a:solidFill>
                <a:latin typeface="Calibri"/>
              </a:rPr>
              <a:t>j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⟩</a:t>
            </a:r>
            <a:br>
              <a:rPr sz="1250" b="0" i="0">
                <a:solidFill>
                  <a:srgbClr val="13293D"/>
                </a:solidFill>
                <a:latin typeface="Calibri"/>
              </a:rPr>
            </a:br>
            <a:r>
              <a:rPr sz="1250" b="0" i="0">
                <a:solidFill>
                  <a:srgbClr val="13293D"/>
                </a:solidFill>
                <a:latin typeface="Calibri"/>
              </a:rPr>
              <a:t>is an equal superposition of all 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r</a:t>
            </a:r>
            <a:br>
              <a:rPr sz="1250" b="0" i="0">
                <a:solidFill>
                  <a:srgbClr val="13293D"/>
                </a:solidFill>
                <a:latin typeface="Calibri"/>
              </a:rPr>
            </a:br>
            <a:r>
              <a:rPr sz="1250" b="0" i="0">
                <a:solidFill>
                  <a:srgbClr val="13293D"/>
                </a:solidFill>
                <a:latin typeface="Calibri"/>
              </a:rPr>
              <a:t>eigenvectors of 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U</a:t>
            </a:r>
            <a:r>
              <a:rPr sz="1150" b="0" i="1" baseline="-25000">
                <a:solidFill>
                  <a:srgbClr val="13293D"/>
                </a:solidFill>
                <a:latin typeface="Calibri"/>
              </a:rPr>
              <a:t>a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—</a:t>
            </a:r>
            <a:br>
              <a:rPr sz="1250" b="0" i="0">
                <a:solidFill>
                  <a:srgbClr val="13293D"/>
                </a:solidFill>
                <a:latin typeface="Calibri"/>
              </a:rPr>
            </a:br>
            <a:r>
              <a:rPr sz="1250" b="0" i="0">
                <a:solidFill>
                  <a:srgbClr val="13293D"/>
                </a:solidFill>
                <a:latin typeface="Calibri"/>
              </a:rPr>
              <a:t>we cannot prepare a single  |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u</a:t>
            </a:r>
            <a:r>
              <a:rPr sz="1150" b="0" i="1" baseline="-25000">
                <a:solidFill>
                  <a:srgbClr val="13293D"/>
                </a:solidFill>
                <a:latin typeface="Calibri"/>
              </a:rPr>
              <a:t>j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⟩</a:t>
            </a:r>
            <a:br>
              <a:rPr sz="1250" b="0" i="0">
                <a:solidFill>
                  <a:srgbClr val="13293D"/>
                </a:solidFill>
                <a:latin typeface="Calibri"/>
              </a:rPr>
            </a:br>
            <a:r>
              <a:rPr sz="1250" b="0" i="0">
                <a:solidFill>
                  <a:srgbClr val="13293D"/>
                </a:solidFill>
                <a:latin typeface="Calibri"/>
              </a:rPr>
              <a:t>without already knowing </a:t>
            </a:r>
            <a:r>
              <a:rPr sz="1250" b="0" i="1">
                <a:solidFill>
                  <a:srgbClr val="13293D"/>
                </a:solidFill>
                <a:latin typeface="Calibri"/>
              </a:rPr>
              <a:t>r</a:t>
            </a:r>
            <a:r>
              <a:rPr sz="1250" b="0" i="0">
                <a:solidFill>
                  <a:srgbClr val="13293D"/>
                </a:solidFill>
                <a:latin typeface="Calibri"/>
              </a:rPr>
              <a:t>,</a:t>
            </a:r>
            <a:br>
              <a:rPr sz="1250" b="0" i="0">
                <a:solidFill>
                  <a:srgbClr val="13293D"/>
                </a:solidFill>
                <a:latin typeface="Calibri"/>
              </a:rPr>
            </a:br>
            <a:r>
              <a:rPr sz="1250" b="0" i="0">
                <a:solidFill>
                  <a:srgbClr val="13293D"/>
                </a:solidFill>
                <a:latin typeface="Calibri"/>
              </a:rPr>
              <a:t>but  |1⟩  needs no such knowledge.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